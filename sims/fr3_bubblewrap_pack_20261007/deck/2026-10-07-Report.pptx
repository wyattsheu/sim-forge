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900" r:id="rId29"/>
    <p:sldId id="901" r:id="rId30"/>
    <p:sldId id="902" r:id="rId31"/>
    <p:sldId id="903" r:id="rId32"/>
    <p:sldId id="904" r:id="rId33"/>
    <p:sldId id="905" r:id="rId34"/>
    <p:sldId id="906" r:id="rId35"/>
    <p:sldId id="907" r:id="rId36"/>
    <p:sldId id="908" r:id="rId37"/>
    <p:sldId id="909" r:id="rId38"/>
    <p:sldId id="910" r:id="rId39"/>
    <p:sldId id="911" r:id="rId40"/>
    <p:sldId id="912" r:id="rId41"/>
    <p:sldId id="913" r:id="rId42"/>
    <p:sldId id="914" r:id="rId43"/>
    <p:sldId id="915" r:id="rId44"/>
    <p:sldId id="916" r:id="rId45"/>
    <p:sldId id="917" r:id="rId46"/>
    <p:sldId id="918" r:id="rId47"/>
    <p:sldId id="919" r:id="rId48"/>
    <p:sldId id="920" r:id="rId49"/>
    <p:sldId id="921" r:id="rId50"/>
    <p:sldId id="922" r:id="rId51"/>
    <p:sldId id="923" r:id="rId5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m52GDqHO9yPwcgh1+9sx02TkL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5020E9-609E-4017-BB34-8560C302F62E}">
  <a:tblStyle styleId="{6F5020E9-609E-4017-BB34-8560C302F6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customschemas.google.com/relationships/presentationmetadata" Target="metadata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這份報告涵蓋 9/30 到 10/7 的工作。先講交接時的狀態與根因,再講 surface 版怎麼定案、volume 版做到哪,最後是三個卡點與要討論的決定。所有數字都是逐頂點量出來的,不是看畫面。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交接時的包裹是用 surface deformable 零厚度膜做的,四折壓實後 163 mm,比杯子高 70 mm,放進定版紙箱 148 個頂點高過箱口,蓋子蓋不上。交接文件的懷疑方向是碰撞偏移量,但它自己量過 surfaceThickness 從 10 改 4 層間距沒變。我第一步是寫 layer_gap.py,在杯頂上方打 336 個取樣點數層數與層間距,之後所有判斷都靠它。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流程照交接的設計:布攤平、四條邊依序用錨點沿圓弧折上去、整包放進紙箱、關蓋、搬箱、開蓋,最後要用夾爪把包材掀開。這一輪新增的是搬箱、開蓋和掀包材三段。紅色的最後一步是現在正在做、還沒成功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影片是交接版的壓實段:壓板壓到 138 mm,一放開彈回 163,等於沒壓。根因在錨點幾何:每一折的尖端被無窮硬的 attachment 釘在杯頂上方 12 mm 加每折 8 mm 的高度,壓實段還另外釘 4 個錨。偏移量縮 2.5 倍層間距完全沒變,證明不是碰撞參數。另外用最小探針證明 attachment 在模擬中可以 RemovePrim 放掉,原作者說放不掉是三個錨點同邊一起升被鄰居撐住的假象。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這六條是交接文件列的旋鈕加上我們想到的,每條都實跑過。縮 contactOffset 看起來層變貼,其實是偵測距離變短讓布層直接互穿,自穿模爆到兩三千。只縮 restOffset 層間距減半但自穿模翻倍,而且出生時就多 200 次,代表貼近有一半是互穿。解算迭代、CCD、降 bend、網格加密都沒幫助。最後把 rest shape 設成壓扁的狀態還是彈回 134,證明回彈不是彎曲彈性,是自碰撞間距。這張表的價值是之後不用再走回頭路。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surface 版最後定案是三個各自驗證過乾淨的改動:尖端越過中線 40 mm 讓兩片真的疊起來,自穿模三段降一個量級;surfaceThickness 4 mm;布從 586 縮到 400。放手路線放掉錨點後第二段的折邊會翻回去,所有變體都比不放手差,放棄。折序改成先折左右、後折前後,外層是前後,符合 PPT 先開前後。順帶抓到 selfcheck 對杯子方位的前提跟實際 STL 不符,照字面套會 PASS 但杯口在 x 軸,patch 多加一個 Rz(−90)。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入箱段原本從來沒真正跑過:USD 檔名推不到 meta,蓋子沒動但階段名照印;補 meta 之後定版紙箱 USD 預設是關的,world.reset 時蓋子已經壓在包裹上;杯子入箱平移被多算一次。三個修掉之後,四折完不壓實直接入箱、讓箱壁和蓋子當壓板,布和杯子超出內腔都是 0,關蓋後高 122 mm。搬箱加了 --movebox,包裹相對箱子只滑 2.5 mm,原地開蓋後看得到包裹完整。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使用者的算式 93 加 5 層乘 5 mm 等於 118,實測 122 到 125,差在量測噪音內。每層 4.3 到 5.6 mm 跟小泡泡紙實物 3 到 4 mm 接近,以泡泡紙的口徑高度是合理的。要做到小於 100 得把 restOffset 壓到 0.2,那會互穿,等於換成薄膜物理。真正不合理的是寬度,體積還是杯子的 3.1 倍,來源是布 400 的折邊搆不到中線、以及角落多出來的布。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第二階段把包材改成有真實厚度的 volume deformable。三支探針確認薄板建得起來、折得過去、兩層疊的間距就是板厚加兩倍 restOffset。整合成 wrap_vol.py 一次模擬跑完全程。相對 surface 的最大好處是互穿從上百降到個位數,而且同指令重跑兩次關蓋前 bbox 差不到 2 mm,surface 版同參數兩次會差到折邊滑開。代價是 solver 要 128 迭代、時間步 1/240,實跑約實時的 5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第一版 E 2e4 的板太硬,角落翹成鬱金香、開蓋後彈出箱外。掃六組軟度後 E 2e3 是唯一可用的窗口:開蓋後布留在箱內、俯視覆蓋 93%,再軟一階布就被拉長。一個反直覺的發現是板做薄反而更彈,因為厚度方向只有一層四面體會數值上變硬,所以要調軟只能調楊氏模數。沒解掉的是包裹撐滿內腔:不管軟硬、不管布縮到 436 還是 500,關蓋後 y 都是 223,來源是放錨後的彈性回彈。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這張表是兩種包材的正面對照。surface 是零厚度的膜,厚度其實是碰撞偏移量撐出來的,所以改 surfaceThickness 沒反應、縮偏移量就互穿。volume 的厚度是幾何,層間距就是板厚加兩倍 restOffset,自互穿從上百降到個位數,而且同指令兩次幾乎一樣。代價是純彈性回彈更徹底、角落會翹、計算慢五倍。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厚度不是免費的。第一,板一有厚度彎曲剛性就上去,E 要降一階才像泡泡紙,再降一階布就被拉長,可用窗口很窄。第二,反直覺的是板做薄反而更彈,因為厚度方向只有一層四面體會數值鎖死。第三是最大的:純彈性材料放開就 100% 回彈,包裹把箱子填滿,縮布也救不了。第四,粗網格讓夾爪夾不到足夠頂點,而且 solver 要加倍、時間步減半。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這題補測了。surface 膜夾得住,但只有指面間距約等於兩倍 restOffset、也就是 2 mm 時才是真的夾住:滑動 0.3 到 0.5 mm、零穿指、邊長比 1.06,四條判準全過。間隙 4 到 10 mm 時頂點根本沒被夾到,布只是掛在下指上被帶起來,滑 5 到 20 mm;間隙小於 1 mm 開始穿膜,而且越擠滑得越多。靠的是 restOffset 造出來的虛擬厚度,不是 contactOffset 也不是 surfaceThickness。疊兩片只掀上片兩片互穿 0,翻面 74 到 83%,volume 是 100%。缺點是可用間隙窗口只有 1.5 到 2 mm,volume 是 2 到 5 mm;而且懸出的邊會自己垂成垂直,用上下合攏的接近方式抓不到任何頂點。結論:只為了能夾,不需要厚度;要穿模與重現性,還是 volume。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我的建議是正式包材走 volume,surface 保留當快速迭代工具。理由是 volume 的厚度和層間距是真的物理量,之後要對應不同泡泡紙規格只要改板厚;穿模和重現性兩項驗收也只有 volume 過得乾淨;而且要給夾爪和手臂夾,有實體比較合理。代價是慢五倍、楊氏模數窗口窄、純彈性要靠十字形加解析 rest 才留得住形。這三個前提需要大家同意。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這是最大的物理卡點。PhysX 的 deformable 不管 surface 還是 volume 都是純彈性,查遍 schema 沒有任何塑性或黏彈參數,runtime 改參數只能拖慢不能留形。唯一有效的是建板時把靜止形狀設成折好的樣子。四折用模擬快照當 rest 會炸,原因是 PhysX 在 points 不等於 rest 時初始化有問題,繞法是建板時 points 等於 rest、world.reset 後再把 points 寫回平板。但即使這樣,正方形板的角落有 90 度多餘材料無法等距,前後兩片放手還是彈 250 mm;把四個角裁掉做成十字形,四片放手只動 1 到 6 mm。所以要請老師和團隊決定:十字形預裁包材接不接受。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左邊是 volume 板、右邊是 surface 膜,同一個探針:兩片疊著,夾爪只夾上面那片的伸出邊,沿圓弧翻 180 度。兩種都夾得住、掀得開,下面那片都留在原位。差別在夾持窗口:volume 的指面間距 4 到 5 mm 都行,surface 只有 1.5 到 2 mm,等於兩倍 restOffset,夾太鬆布只是掛在下指上、夾太緊會穿膜。翻面 volume 是 100%,surface 74 到 83%,落下時會皺。兩種都沒有穿杯、沒有互穿。這張證明「夾得住」不是選 surface 或 volume 的決定因素,決定因素在整包的穿模、重現性與回彈。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把抓取接在開蓋之後同一次模擬裡跑了七輪。最好的一次即時找到合格抓取點,單指把角挑高 10 mm,但兩指只夾到 3 個頂點,拉起來的只是一個三角角,整片只有 23% 越過折線,放開幾乎全部落回,還拖動其他片 6.8%。本質問題是純摩擦夾一塊粗網格的 volume 布夾不牢:格子 14 mm、指面 20 mm,理論上最多 8 個頂點。提案改成夾合時用 attachment 綁住指間頂點,放開時 RemovePrim,等於假設夾爪夾得牢,真夾爪有橡膠墊本來就比 kinematic 方塊夾得牢。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雙臂場景盤點發現兩隻手臂是 stationary_ai 的 6 軸 follower,不是 FR3,Isaac 內建沒有它的運動學設定,所以從 USD 的 PhysX 關節框架直接產 URDF 和 Lula 描述檔來解 IK,正向運動學跟 USD 誤差為零。紙箱繞 z 轉 180° 之後右手能照規格到抓取點,PPT 的左右分工跟著對調。乾跑 v2 照門檻全程無碰撞,但有三處妥協:夾上蓋外緣會插進鄰片,改成蓋子先 kinematic 開 35° 再用指頭捏板厚掀到 50°,之後也由 kinematic 轉到 180°;掀包材時其他三片蓋要開到 260° 貼外牆,不然腕部會撞到平躺的蓋;弧線上指尖軸要偏 15°。箱子在工作空間邊緣,靈巧度很低,抓點離牆不到 30 mm 指頭就會碰牆。手臂端需要布那邊輸出什麼,寫在 arm/INTERFACE.md。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目標六。原本降伏影片加壓佔掉 95% 影格。重剪後加壓 6 秒、放開 2 秒、回彈靜置 12 秒,影片上依序出現壓到 32.5 度、放開、停在 17.1 度三行字。陰性對照壓到 0.6 倍降伏角,回到起點,證明留住的是塑性。規格寫的 1.5 倍在目前摺痕參數下只留 4.2 度,模型算 4.37 吻合,要 10 度以上得壓到 2.2 倍,所以主片用 3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這張表把兩週的卡點排在一起。打勾的四項已解;層間距那項是接受而不是解,因為它等於泡泡紙實物厚度。還開著的三項:回彈與撐滿內腔要看十字形接不接受;整包夾不到點要改 attachment 抓取;手臂碰撞 v2 乾跑在跑。最後一項是流程上的坑,session 限流讓十個 agent 同時中斷,模擬結果都還在硬碟上,之後改成最多五個。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方法層面的交付。所有量測都有合成自測,例如兩張隔 3 mm 的布必須量出 3.000。122 次模擬每次一列,36 次標無效並寫原因,像蓋子沒動、杯子方位跟包裹不符、被彈飛這種假結果都標出來。測試集對已知壞案例全部抓到,抓不到就代表測試集無效。全部推到 GitHub,USD 和雙臂場景都在,clone 下來照 README 跑就能重產影片。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下一步照優先序。第一是等決定十字形,接受就整合進全程鏈。第二是抓取改用 attachment。第三是手臂乾跑無碰撞之後,把布和手臂放進同一個模擬掀開最外層,這是剩下最大的一塊。寬度問題在十字形之後重新算布尺寸。如果手邊有真的泡泡紙,量三個數字就能結束回彈合不合理的爭論。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標題及內容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標題及內容">
  <p:cSld name="4_標題及內容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7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標題及內容">
  <p:cSld name="8_標題及內容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8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標題及內容">
  <p:cSld name="9_標題及內容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9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9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標題及內容">
  <p:cSld name="10_標題及內容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3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標題及內容">
  <p:cSld name="11_標題及內容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1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>
  <p:cSld name="標題及內容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32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標題及內容">
  <p:cSld name="5_標題及內容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33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3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3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|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標題及內容">
  <p:cSld name="24_標題及內容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4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4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4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標題及內容">
  <p:cSld name="12_標題及內容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35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5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5"/>
          <p:cNvSpPr txBox="1"/>
          <p:nvPr/>
        </p:nvSpPr>
        <p:spPr>
          <a:xfrm>
            <a:off x="1375645" y="13163"/>
            <a:ext cx="106808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標題及內容">
  <p:cSld name="13_標題及內容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36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6"/>
          <p:cNvSpPr txBox="1"/>
          <p:nvPr/>
        </p:nvSpPr>
        <p:spPr>
          <a:xfrm>
            <a:off x="1375645" y="13163"/>
            <a:ext cx="103506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標題及內容">
  <p:cSld name="14_標題及內容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7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標題及內容">
  <p:cSld name="15_標題及內容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3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8"/>
          <p:cNvSpPr txBox="1"/>
          <p:nvPr/>
        </p:nvSpPr>
        <p:spPr>
          <a:xfrm>
            <a:off x="1375645" y="13163"/>
            <a:ext cx="107232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標題及內容">
  <p:cSld name="1_標題及內容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3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標題及內容">
  <p:cSld name="6_標題及內容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4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Proposed Method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標題及內容">
  <p:cSld name="16_標題及內容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41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1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1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Proposed Method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標題及內容">
  <p:cSld name="17_標題及內容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42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2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2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標題及內容">
  <p:cSld name="18_標題及內容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43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3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3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| Related work | Proposed Method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標題及內容">
  <p:cSld name="19_標題及內容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44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4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4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Proposed Method | Experimental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標題及內容">
  <p:cSld name="3_標題及內容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45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標題及內容">
  <p:cSld name="7_標題及內容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46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6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標題及內容">
  <p:cSld name="20_標題及內容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4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7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標題及內容">
  <p:cSld name="21_標題及內容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4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8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標題及內容">
  <p:cSld name="22_標題及內容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49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9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標題及內容">
  <p:cSld name="23_標題及內容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5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5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5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5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5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8" name="Google Shape;258;p5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p5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0" name="Google Shape;260;p5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5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6" name="Google Shape;276;p5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7" name="Google Shape;277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5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5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84" name="Google Shape;284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5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5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6" name="Google Shape;296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microsoft.com/office/2007/relationships/media" Target="../media/media5.mp4"/><Relationship Id="rId4" Type="http://schemas.openxmlformats.org/officeDocument/2006/relationships/video" Target="../media/media5.mp4"/><Relationship Id="rId5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microsoft.com/office/2007/relationships/media" Target="../media/media6.mp4"/><Relationship Id="rId4" Type="http://schemas.openxmlformats.org/officeDocument/2006/relationships/video" Target="../media/media6.mp4"/><Relationship Id="rId5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microsoft.com/office/2007/relationships/media" Target="../media/media7.mp4"/><Relationship Id="rId4" Type="http://schemas.openxmlformats.org/officeDocument/2006/relationships/video" Target="../media/media7.mp4"/><Relationship Id="rId5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microsoft.com/office/2007/relationships/media" Target="../media/media8.mp4"/><Relationship Id="rId4" Type="http://schemas.openxmlformats.org/officeDocument/2006/relationships/video" Target="../media/media8.mp4"/><Relationship Id="rId5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microsoft.com/office/2007/relationships/media" Target="../media/media9.mp4"/><Relationship Id="rId4" Type="http://schemas.openxmlformats.org/officeDocument/2006/relationships/video" Target="../media/media9.mp4"/><Relationship Id="rId5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microsoft.com/office/2007/relationships/media" Target="../media/media10.mp4"/><Relationship Id="rId4" Type="http://schemas.openxmlformats.org/officeDocument/2006/relationships/video" Target="../media/media10.mp4"/><Relationship Id="rId5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"/>
          <p:cNvSpPr txBox="1"/>
          <p:nvPr/>
        </p:nvSpPr>
        <p:spPr>
          <a:xfrm>
            <a:off x="779139" y="1671684"/>
            <a:ext cx="10653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Report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2026.10.07</a:t>
            </a:r>
            <a:endParaRPr/>
          </a:p>
        </p:txBody>
      </p:sp>
      <p:pic>
        <p:nvPicPr>
          <p:cNvPr id="305" name="Google Shape;3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4401" y="2487781"/>
            <a:ext cx="1938338" cy="141829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"/>
          <p:cNvSpPr txBox="1"/>
          <p:nvPr/>
        </p:nvSpPr>
        <p:spPr>
          <a:xfrm>
            <a:off x="779139" y="4254489"/>
            <a:ext cx="5515732" cy="1506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Advisor: Prof. Huang Ching-Chun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 Wyatt Sheu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"/>
          <p:cNvCxnSpPr/>
          <p:nvPr/>
        </p:nvCxnSpPr>
        <p:spPr>
          <a:xfrm>
            <a:off x="849939" y="3916017"/>
            <a:ext cx="1049212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4" name="Google Shape;314;p2"/>
          <p:cNvGraphicFramePr/>
          <p:nvPr/>
        </p:nvGraphicFramePr>
        <p:xfrm>
          <a:off x="1181681" y="16131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1812375"/>
                <a:gridCol w="8016275"/>
              </a:tblGrid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Progress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逆物流 Demo:泡泡紙包馬克杯 → 入紙箱 → 搬箱 → 開蓋 → 雙臂掀包材(Isaac Sim 5.1)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Progress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Study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SimWeaver / SIM1(柔性物體 sim-to-real,只讀對照,未報告)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Tasks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9A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ea typeface="Microsoft JhengHei"/>
                        </a:rPr>
                        <a:t>GitHub sim-forge/sims/fr3_bubblewrap_pack_20261007、自動測試集、122 次模擬紀錄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2"/>
          <p:cNvSpPr txBox="1"/>
          <p:nvPr>
            <p:ph type="title"/>
          </p:nvPr>
        </p:nvSpPr>
        <p:spPr>
          <a:xfrm>
            <a:off x="896923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/>
              <a:t>Summary</a:t>
            </a:r>
            <a:endParaRPr b="1">
              <a:solidFill>
                <a:srgbClr val="7F7F7F"/>
              </a:solidFill>
            </a:endParaRPr>
          </a:p>
        </p:txBody>
      </p:sp>
      <p:graphicFrame>
        <p:nvGraphicFramePr>
          <p:cNvPr id="316" name="Google Shape;316;p2"/>
          <p:cNvGraphicFramePr/>
          <p:nvPr/>
        </p:nvGraphicFramePr>
        <p:xfrm>
          <a:off x="1181681" y="3794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89950"/>
                <a:gridCol w="9438700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找到包裹疊太高的根因:錨點幾何,不是碰撞參數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surface 版:入箱 0 超出、關蓋、搬箱、開蓋 demo 影片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折序改成前後在外層(符合 PPT);杯子方位修正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volume deformable 版全程鏈跑通,互穿 ≤ 8、可重現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🔄 解析 rest shape + 十字形板:放手留形(未整合)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🛠️ 夾爪掀最外層:只夾到 3 點、翻 23%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🔄 雙臂(6 軸 follower)IK 可達性 + 乾跑軌跡(有碰撞,v2 中)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✅ 降伏影片重剪;測試集 golden 15/15;repo 推上 GitHub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2"/>
          <p:cNvSpPr txBox="1"/>
          <p:nvPr/>
        </p:nvSpPr>
        <p:spPr>
          <a:xfrm>
            <a:off x="1181681" y="3395906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summarize what did you do within a week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</a:t>
            </a:r>
            <a:endParaRPr/>
          </a:p>
        </p:txBody>
      </p:sp>
      <p:sp>
        <p:nvSpPr>
          <p:cNvPr id="323" name="Google Shape;323;p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3"/>
          <p:cNvSpPr txBox="1"/>
          <p:nvPr/>
        </p:nvSpPr>
        <p:spPr>
          <a:xfrm>
            <a:off x="841248" y="1627632"/>
            <a:ext cx="10515600" cy="459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zh-TW" sz="20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Goal:雙臂開箱 → 掀泡泡紙 → 夾出馬克杯;我負責包材與紙箱蓋降伏影片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000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16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六個驗收目標:入箱 0 超出、外層前後、流程影片、搬箱不掉、壓小、降伏看得懂</a:t>
            </a:r>
            <a:endParaRPr/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zh-TW" sz="20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Status:surface 版 6/6 達標(壓小只到高度);volume 版留形路線找到,整合中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zh-TW" sz="20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Discussion:十字形包材接不接受;夾爪改 attachment;手臂不是 FR3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"/>
          <p:cNvSpPr txBox="1"/>
          <p:nvPr/>
        </p:nvSpPr>
        <p:spPr>
          <a:xfrm>
            <a:off x="1953985" y="1332336"/>
            <a:ext cx="8284029" cy="487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ea typeface="Microsoft JhengHei"/>
              </a:rPr>
              <a:t>目標 → 根因 → surface 定案 → volume 版 → 卡點 → 下一步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交接時:包裹比杯子高 70 mm,蓋不上</a:t>
            </a:r>
            <a:endParaRPr/>
          </a:p>
        </p:txBody>
      </p:sp>
      <p:sp>
        <p:nvSpPr>
          <p:cNvPr id="331" name="Google Shape;331;p4"/>
          <p:cNvSpPr txBox="1"/>
          <p:nvPr>
            <p:ph idx="1" type="body"/>
          </p:nvPr>
        </p:nvSpPr>
        <p:spPr>
          <a:xfrm>
            <a:off x="841248" y="1572768"/>
            <a:ext cx="10515600" cy="115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杯子躺平 107×133×93;Sep 27 版壓實後 163 mm,148 個頂點高過箱口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交接懷疑碰撞偏移量;thickness 10→4 層間距沒變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先做量尺 layer_gap.py:杯頂上方幾層、每層幾 mm</a:t>
            </a:r>
            <a:endParaRPr/>
          </a:p>
        </p:txBody>
      </p:sp>
      <p:sp>
        <p:nvSpPr>
          <p:cNvPr id="332" name="Google Shape;332;p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Rounded Rectangle 332"/>
          <p:cNvSpPr/>
          <p:nvPr/>
        </p:nvSpPr>
        <p:spPr>
          <a:xfrm>
            <a:off x="566928" y="2836164"/>
            <a:ext cx="3505200" cy="33817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566928" y="2836164"/>
            <a:ext cx="82296" cy="338175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676656" y="2836164"/>
            <a:ext cx="3322320" cy="338175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/>
            <a:r>
              <a:rPr sz="4400" b="1" i="0">
                <a:solidFill>
                  <a:srgbClr val="70AD47"/>
                </a:solidFill>
              </a:rPr>
              <a:t>163 mm</a:t>
            </a:r>
          </a:p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交接時包裹高</a:t>
            </a:r>
          </a:p>
          <a:p>
            <a:pPr algn="ctr"/>
            <a:r>
              <a:rPr sz="1300" b="0" i="0" lang="zh-TW">
                <a:solidFill>
                  <a:srgbClr val="595959"/>
                </a:solidFill>
                <a:ea typeface="Microsoft JhengHei"/>
              </a:rPr>
              <a:t>杯子 93 mm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4346448" y="2836164"/>
            <a:ext cx="3505200" cy="33817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346448" y="2836164"/>
            <a:ext cx="82296" cy="338175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4456176" y="2836164"/>
            <a:ext cx="3322320" cy="338175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/>
            <a:r>
              <a:rPr sz="4400" b="1" i="0">
                <a:solidFill>
                  <a:srgbClr val="70AD47"/>
                </a:solidFill>
              </a:rPr>
              <a:t>48 mm</a:t>
            </a:r>
          </a:p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布頂離杯頂</a:t>
            </a:r>
          </a:p>
          <a:p>
            <a:pPr algn="ctr"/>
            <a:r>
              <a:rPr sz="1300" b="0" i="0" lang="zh-TW">
                <a:solidFill>
                  <a:srgbClr val="595959"/>
                </a:solidFill>
                <a:ea typeface="Microsoft JhengHei"/>
              </a:rPr>
              <a:t>4~5 層,每層 8.6 mm</a:t>
            </a:r>
          </a:p>
        </p:txBody>
      </p:sp>
      <p:sp>
        <p:nvSpPr>
          <p:cNvPr id="339" name="Rounded Rectangle 338"/>
          <p:cNvSpPr/>
          <p:nvPr/>
        </p:nvSpPr>
        <p:spPr>
          <a:xfrm>
            <a:off x="8125968" y="2836164"/>
            <a:ext cx="3505200" cy="33817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8125968" y="2836164"/>
            <a:ext cx="82296" cy="338175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8235695" y="2836164"/>
            <a:ext cx="3322320" cy="338175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/>
            <a:r>
              <a:rPr sz="4400" b="1" i="0">
                <a:solidFill>
                  <a:srgbClr val="70AD47"/>
                </a:solidFill>
              </a:rPr>
              <a:t>512</a:t>
            </a:r>
          </a:p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布自穿模(次)</a:t>
            </a:r>
          </a:p>
          <a:p>
            <a:pPr algn="ctr"/>
            <a:r>
              <a:rPr sz="1300" b="0" i="0" lang="zh-TW">
                <a:solidFill>
                  <a:srgbClr val="595959"/>
                </a:solidFill>
                <a:ea typeface="Microsoft JhengHei"/>
              </a:rPr>
              <a:t>壓實後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流程:模擬折疊建包裹,開箱反過來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572768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每一折:整條邊綁 kinematic 錨點,沿兩段圓弧拉到杯頂;前一折留著,下一折蓋上去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量測不看畫面:逐頂點比對內腔、邊級別穿杯、自穿模、層間距、邊長比</a:t>
            </a:r>
            <a:endParaRPr/>
          </a:p>
        </p:txBody>
      </p:sp>
      <p:sp>
        <p:nvSpPr>
          <p:cNvPr id="340" name="Rounded Rectangle 339"/>
          <p:cNvSpPr/>
          <p:nvPr/>
        </p:nvSpPr>
        <p:spPr>
          <a:xfrm>
            <a:off x="566928" y="3888232"/>
            <a:ext cx="1314123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攤平的布</a:t>
            </a:r>
          </a:p>
        </p:txBody>
      </p:sp>
      <p:cxnSp>
        <p:nvCxnSpPr>
          <p:cNvPr id="341" name="Connector 340"/>
          <p:cNvCxnSpPr/>
          <p:nvPr/>
        </p:nvCxnSpPr>
        <p:spPr>
          <a:xfrm>
            <a:off x="1908483" y="4368292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Rounded Rectangle 341"/>
          <p:cNvSpPr/>
          <p:nvPr/>
        </p:nvSpPr>
        <p:spPr>
          <a:xfrm>
            <a:off x="2191947" y="3888232"/>
            <a:ext cx="1314123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四折包杯</a:t>
            </a:r>
          </a:p>
        </p:txBody>
      </p:sp>
      <p:cxnSp>
        <p:nvCxnSpPr>
          <p:cNvPr id="343" name="Connector 342"/>
          <p:cNvCxnSpPr/>
          <p:nvPr/>
        </p:nvCxnSpPr>
        <p:spPr>
          <a:xfrm>
            <a:off x="3533502" y="4368292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Rounded Rectangle 343"/>
          <p:cNvSpPr/>
          <p:nvPr/>
        </p:nvSpPr>
        <p:spPr>
          <a:xfrm>
            <a:off x="3816966" y="3888232"/>
            <a:ext cx="1314123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入箱</a:t>
            </a:r>
          </a:p>
        </p:txBody>
      </p:sp>
      <p:cxnSp>
        <p:nvCxnSpPr>
          <p:cNvPr id="345" name="Connector 344"/>
          <p:cNvCxnSpPr/>
          <p:nvPr/>
        </p:nvCxnSpPr>
        <p:spPr>
          <a:xfrm>
            <a:off x="5158522" y="4368292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Rounded Rectangle 345"/>
          <p:cNvSpPr/>
          <p:nvPr/>
        </p:nvSpPr>
        <p:spPr>
          <a:xfrm>
            <a:off x="5441986" y="3888232"/>
            <a:ext cx="1314123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關蓋</a:t>
            </a:r>
          </a:p>
        </p:txBody>
      </p:sp>
      <p:cxnSp>
        <p:nvCxnSpPr>
          <p:cNvPr id="347" name="Connector 346"/>
          <p:cNvCxnSpPr/>
          <p:nvPr/>
        </p:nvCxnSpPr>
        <p:spPr>
          <a:xfrm>
            <a:off x="6783541" y="4368292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Rounded Rectangle 347"/>
          <p:cNvSpPr/>
          <p:nvPr/>
        </p:nvSpPr>
        <p:spPr>
          <a:xfrm>
            <a:off x="7067005" y="3888232"/>
            <a:ext cx="1314123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搬箱</a:t>
            </a:r>
          </a:p>
        </p:txBody>
      </p:sp>
      <p:cxnSp>
        <p:nvCxnSpPr>
          <p:cNvPr id="349" name="Connector 348"/>
          <p:cNvCxnSpPr/>
          <p:nvPr/>
        </p:nvCxnSpPr>
        <p:spPr>
          <a:xfrm>
            <a:off x="8408561" y="4368292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Rounded Rectangle 349"/>
          <p:cNvSpPr/>
          <p:nvPr/>
        </p:nvSpPr>
        <p:spPr>
          <a:xfrm>
            <a:off x="8692025" y="3888232"/>
            <a:ext cx="1314123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開蓋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10033580" y="4368292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ounded Rectangle 351"/>
          <p:cNvSpPr/>
          <p:nvPr/>
        </p:nvSpPr>
        <p:spPr>
          <a:xfrm>
            <a:off x="10317044" y="3888232"/>
            <a:ext cx="1314123" cy="960120"/>
          </a:xfrm>
          <a:prstGeom prst="roundRect">
            <a:avLst>
              <a:gd name="adj" fmla="val 8000"/>
            </a:avLst>
          </a:prstGeom>
          <a:solidFill>
            <a:srgbClr val="F5D6D6"/>
          </a:solidFill>
          <a:ln w="31750">
            <a:solidFill>
              <a:srgbClr val="C0000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sz="1600" b="1" i="0" lang="zh-TW">
                <a:solidFill>
                  <a:srgbClr val="C00000"/>
                </a:solidFill>
                <a:ea typeface="Microsoft JhengHei"/>
              </a:rPr>
              <a:t>夾爪掀包材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根因:尖端被釘在空中,不是碰撞參數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終點寫死:杯頂 +12 mm + 每折 8 mm;attachment 無窮硬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壓實段釘 4 個錨;拿掉 → 壓住 138 → 117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偏移量縮 2.5 倍,層間距 5.46 → 5.44 沒動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attachment 可 RemovePrim 放掉;原結論是量測假象</a:t>
            </a:r>
            <a:endParaRPr/>
          </a:p>
        </p:txBody>
      </p:sp>
      <p:pic>
        <p:nvPicPr>
          <p:cNvPr id="347" name="01_baseline_pres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261139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8528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273516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ea typeface="Microsoft JhengHei"/>
              </a:rPr>
              <a:t>交接版壓實:壓到 138 放開彈回 163(15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排除的六條路:每條都有數字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1572768"/>
          <a:ext cx="11064239" cy="2887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422"/>
                <a:gridCol w="3863916"/>
                <a:gridCol w="3863916"/>
                <a:gridCol w="671985"/>
              </a:tblGrid>
              <a:tr h="408939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ea typeface="Microsoft JhengHei"/>
                        </a:rPr>
                        <a:t>旋鈕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ea typeface="Microsoft JhengHei"/>
                        </a:rPr>
                        <a:t>改法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ea typeface="Microsoft JhengHei"/>
                        </a:rPr>
                        <a:t>結果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ea typeface="Microsoft JhengHei"/>
                        </a:rPr>
                        <a:t>判定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</a:tr>
              <a:tr h="413088"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contactOffset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5 → 2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自穿模 13 → 104 → 2403(互穿)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3088"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restOffset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1 → 0.2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層間距減半,自穿模 ×2,出生時就多 200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3088"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solver / CCD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64 → 128,colIter ×2,CCD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自穿模 3726;CCD 無效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3088"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bend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4 → 1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回彈 24 → 35 mm 更差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3088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網格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34 → 50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層間距 4.4 → 6.6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3088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摺痕定型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rest shape := 壓扁狀態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放開照樣 117 → 134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surface 定案:越線疊合、薄膜、布 400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tip_over 40 mm 兩片真的疊:自穿模 13/257/512 → 2/55/144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thick 4 mm 乾淨;放手路線翻掉,放棄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布 586 → 400:體積 4.9 → 3.1 倍;折序 x→y;杯口 +y 杯耳 +x</a:t>
            </a:r>
            <a:endParaRPr/>
          </a:p>
        </p:txBody>
      </p:sp>
      <p:pic>
        <p:nvPicPr>
          <p:cNvPr id="347" name="02_surf_fol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261139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8528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273516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ea typeface="Microsoft JhengHei"/>
              </a:rPr>
              <a:t>定案參數前兩折:先折左右,前後在外層(15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入箱 0 超出 → 關蓋 → 搬箱 → 開蓋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四折完直接入箱,箱壁與蓋子當壓板:布 0 / 杯 0 超出,關蓋後 122 mm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搬箱相對位移 2.5 mm;搬前後超出相同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修三個 bug:缺 meta、reset 時蓋子關著、杯子平移重算</a:t>
            </a:r>
            <a:endParaRPr/>
          </a:p>
        </p:txBody>
      </p:sp>
      <p:pic>
        <p:nvPicPr>
          <p:cNvPr id="347" name="03_surf_box_move_ope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261139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8528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0:16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273516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ea typeface="Microsoft JhengHei"/>
              </a:rPr>
              <a:t>搬箱(+y 200、抬 100)→ 原地開蓋確認箱內(16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高度合理:實測 122~125 ≈ 93 + 5 層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層間距是自碰撞靜止距離的底線;要「&lt;100」得改薄膜物理(rest 0.2 → 互穿)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寬度才是大頭:兩側多 25~33 mm,來自折邊搆不到中線、角落耳朵</a:t>
            </a:r>
            <a:endParaRPr/>
          </a:p>
        </p:txBody>
      </p:sp>
      <p:sp>
        <p:nvSpPr>
          <p:cNvPr id="347" name="Rounded Rectangle 346"/>
          <p:cNvSpPr/>
          <p:nvPr/>
        </p:nvSpPr>
        <p:spPr>
          <a:xfrm>
            <a:off x="566928" y="2518664"/>
            <a:ext cx="3505200" cy="36992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566928" y="2518664"/>
            <a:ext cx="82296" cy="369925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676656" y="2518664"/>
            <a:ext cx="3322320" cy="369925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/>
            <a:r>
              <a:rPr sz="4400" b="1" i="0">
                <a:solidFill>
                  <a:srgbClr val="70AD47"/>
                </a:solidFill>
              </a:rPr>
              <a:t>122~125</a:t>
            </a:r>
          </a:p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關蓋後包裹高 (mm)</a:t>
            </a:r>
          </a:p>
          <a:p>
            <a:pPr algn="ctr"/>
            <a:r>
              <a:rPr sz="1300" b="0" i="0" lang="zh-TW">
                <a:solidFill>
                  <a:srgbClr val="595959"/>
                </a:solidFill>
                <a:ea typeface="Microsoft JhengHei"/>
              </a:rPr>
              <a:t>杯子 93;交接 163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4346448" y="2518664"/>
            <a:ext cx="3505200" cy="36992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4346448" y="2518664"/>
            <a:ext cx="82296" cy="369925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4456176" y="2518664"/>
            <a:ext cx="3322320" cy="369925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/>
            <a:r>
              <a:rPr sz="4400" b="1" i="0">
                <a:solidFill>
                  <a:srgbClr val="70AD47"/>
                </a:solidFill>
              </a:rPr>
              <a:t>4.3~5.6</a:t>
            </a:r>
          </a:p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每層間距 (mm)</a:t>
            </a:r>
          </a:p>
          <a:p>
            <a:pPr algn="ctr"/>
            <a:r>
              <a:rPr sz="1300" b="0" i="0" lang="zh-TW">
                <a:solidFill>
                  <a:srgbClr val="595959"/>
                </a:solidFill>
                <a:ea typeface="Microsoft JhengHei"/>
              </a:rPr>
              <a:t>小泡泡紙實物 3~4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8125968" y="2518664"/>
            <a:ext cx="3505200" cy="36992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8125968" y="2518664"/>
            <a:ext cx="82296" cy="369925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8235695" y="2518664"/>
            <a:ext cx="3322320" cy="369925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/>
            <a:r>
              <a:rPr sz="4400" b="1" i="0">
                <a:solidFill>
                  <a:srgbClr val="70AD47"/>
                </a:solidFill>
              </a:rPr>
              <a:t>3.1×</a:t>
            </a:r>
          </a:p>
          <a:p>
            <a:pPr algn="ctr"/>
            <a:r>
              <a:rPr sz="1600" b="1" i="0" lang="zh-TW">
                <a:solidFill>
                  <a:srgbClr val="1A1A1A"/>
                </a:solidFill>
                <a:ea typeface="Microsoft JhengHei"/>
              </a:rPr>
              <a:t>體積 ÷ 杯子</a:t>
            </a:r>
          </a:p>
          <a:p>
            <a:pPr algn="ctr"/>
            <a:r>
              <a:rPr sz="1300" b="0" i="0" lang="zh-TW">
                <a:solidFill>
                  <a:srgbClr val="595959"/>
                </a:solidFill>
                <a:ea typeface="Microsoft JhengHei"/>
              </a:rPr>
              <a:t>交接 4.9×;真實約 1.5~2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volume 版:互穿 ≤ 8、同指令可重現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手寫 35×35×1 四面體;層間距 = 板厚 + 2×rest = 5.0 mm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穿杯 0、反轉 0、自互穿 ≤ 8(surface 97~156)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同指令兩次 bbox 差 ≤ 2 mm;solver 128、dt 1/240</a:t>
            </a:r>
            <a:endParaRPr/>
          </a:p>
        </p:txBody>
      </p:sp>
      <p:pic>
        <p:nvPicPr>
          <p:cNvPr id="347" name="04_vol_fold_box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261139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8528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273516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ea typeface="Microsoft JhengHei"/>
              </a:rPr>
              <a:t>4 mm 四面體薄板,E 2e3,四折 → 收耳 → 入箱(15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軟度掃描:E 2e3 留箱內,但撐滿內腔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E 2e4 → 2e3:開蓋後布頂 207 → 129 mm,覆蓋 73 → 93%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E 1e3 布被拉長;板變薄反而更彈(單層鎖死)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關蓋後 y 一律 223 = 內腔;角落耳朵要側板壓</a:t>
            </a:r>
            <a:endParaRPr/>
          </a:p>
        </p:txBody>
      </p:sp>
      <p:pic>
        <p:nvPicPr>
          <p:cNvPr id="347" name="05_vol_move_ope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261139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8528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273516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ea typeface="Microsoft JhengHei"/>
              </a:rPr>
              <a:t>s2(E 2e3):搬箱 → 開蓋,布頂 129 &lt; 箱口 131,覆蓋 93%(15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surface vs volume:兩種包材對照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1572768"/>
          <a:ext cx="11064239" cy="3705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545"/>
                <a:gridCol w="4494847"/>
                <a:gridCol w="4494847"/>
              </a:tblGrid>
              <a:tr h="408939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ea typeface="Microsoft JhengHei"/>
                        </a:rPr>
                        <a:t>項目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ea typeface="Microsoft JhengHei"/>
                        </a:rPr>
                        <a:t>surface(零厚度膜,9/30 起)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ea typeface="Microsoft JhengHei"/>
                        </a:rPr>
                        <a:t>volume(4 mm 四面體板,10/2 起)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厚度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0;靠 contactOffset 5 / restOffset 1 撐出 4.3~5.6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幾何 4 mm;層間距 = 板厚 + 2×rest = 5.0 mm</a:t>
                      </a:r>
                    </a:p>
                  </a:txBody>
                  <a:tcPr anchor="ctr" marL="73152" marR="73152">
                    <a:solidFill>
                      <a:srgbClr val="F6F1E4"/>
                    </a:solidFill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改厚度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surfaceThickness 10→4 無效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直接指定板厚;但單層四面體變薄反而更硬</a:t>
                      </a:r>
                    </a:p>
                  </a:txBody>
                  <a:tcPr anchor="ctr" marL="73152" marR="73152">
                    <a:solidFill>
                      <a:srgbClr val="F6F1E4"/>
                    </a:solidFill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自互穿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97~156(縮偏移量 → 上千)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≤ 8</a:t>
                      </a:r>
                    </a:p>
                  </a:txBody>
                  <a:tcPr anchor="ctr" marL="73152" marR="73152">
                    <a:solidFill>
                      <a:srgbClr val="F6F1E4"/>
                    </a:solidFill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重現性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同參數兩次差 6 mm,折邊會滑開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關蓋前 bbox 差 ≤ 2 mm</a:t>
                      </a:r>
                    </a:p>
                  </a:txBody>
                  <a:tcPr anchor="ctr" marL="73152" marR="73152">
                    <a:solidFill>
                      <a:srgbClr val="F6F1E4"/>
                    </a:solidFill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入箱 / 搬箱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0 超出 / 滑 2.5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0 超出 / 滑 0.6~2.3 mm</a:t>
                      </a:r>
                    </a:p>
                  </a:txBody>
                  <a:tcPr anchor="ctr" marL="73152" marR="73152">
                    <a:solidFill>
                      <a:srgbClr val="F6F1E4"/>
                    </a:solidFill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放開回彈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彈 17 mm(自碰撞間距)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100% 回彈(純彈性),靠箱蓋壓住</a:t>
                      </a:r>
                    </a:p>
                  </a:txBody>
                  <a:tcPr anchor="ctr" marL="73152" marR="73152">
                    <a:solidFill>
                      <a:srgbClr val="F6F1E4"/>
                    </a:solidFill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角落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皺成耳朵,壓實後滑開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翹起,需側板收耳;十字形可免</a:t>
                      </a:r>
                    </a:p>
                  </a:txBody>
                  <a:tcPr anchor="ctr" marL="73152" marR="73152">
                    <a:solidFill>
                      <a:srgbClr val="F6F1E4"/>
                    </a:solidFill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計算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每段 2~3 分鐘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全程 4 分鐘(solver 128、dt 1/240,≈5× 實時)</a:t>
                      </a:r>
                    </a:p>
                  </a:txBody>
                  <a:tcPr anchor="ctr" marL="73152" marR="73152">
                    <a:solidFill>
                      <a:srgbClr val="F6F1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加了厚度之後,新冒出來的四個問題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Rounded Rectangle 353"/>
          <p:cNvSpPr/>
          <p:nvPr/>
        </p:nvSpPr>
        <p:spPr>
          <a:xfrm>
            <a:off x="566928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566928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66928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太硬、翹耳朵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66928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E 2e4 時四角翹成鬱金香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降到 2e3 才垂下;1e3 就被拉長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可用窗口只有一階</a:t>
            </a:r>
          </a:p>
        </p:txBody>
      </p:sp>
      <p:sp>
        <p:nvSpPr>
          <p:cNvPr id="358" name="Rounded Rectangle 357"/>
          <p:cNvSpPr/>
          <p:nvPr/>
        </p:nvSpPr>
        <p:spPr>
          <a:xfrm>
            <a:off x="3383280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383280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3383280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變薄反而更硬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3383280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厚度方向只有 1 層四面體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2 mm 板開蓋彈得比 4 mm 高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彎曲鎖死:調軟只能調 E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6199632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6199632" y="1572768"/>
            <a:ext cx="2615184" cy="47548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199632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撐滿內腔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6199632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放錨後 100% 回彈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關蓋後 y 一律 223 = 內腔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縮布、長方形布都沒用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9015984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015984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9015984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夾不到點、算得慢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9015984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格 14 mm vs 指面 20 mm,最多 8 點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solver 128、dt 1/240 才不壓穿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全程 ≈ 5× 實時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單片夾持對照:surface 2 mm vs volume 4 mm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虛擬厚度 = 2×restOffset = 2 mm;間隙 1.5~2 滑動 0.3~0.5、穿指 0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間隙 4~10 沒夾到,布掛在下指上;≤ 1 mm 開始穿膜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掀上片互穿 0,翻面 74~83%(volume 100%);窗口窄</a:t>
            </a:r>
            <a:endParaRPr/>
          </a:p>
        </p:txBody>
      </p:sp>
      <p:pic>
        <p:nvPicPr>
          <p:cNvPr id="347" name="12_grip_side_by_sid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3000517"/>
            <a:ext cx="5257800" cy="1478756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11351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0:11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453413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ea typeface="Microsoft JhengHei"/>
              </a:rPr>
              <a:t>G1 夾懸出邊、抬 150 mm、拉 100 mm:左 volume 間隙 4 mm、右 surface 間隙 2 mm(11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建議:包材用 volume,surface 當對照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Rounded Rectangle 353"/>
          <p:cNvSpPr/>
          <p:nvPr/>
        </p:nvSpPr>
        <p:spPr>
          <a:xfrm>
            <a:off x="566928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566928" y="1572768"/>
            <a:ext cx="2615184" cy="47548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66928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選 volume 的理由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66928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厚度與層間距是物理量,可直接對應泡泡紙規格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互穿 ≤ 8、可重現,驗收說得清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夾爪、手臂接觸有實體可夾</a:t>
            </a:r>
          </a:p>
        </p:txBody>
      </p:sp>
      <p:sp>
        <p:nvSpPr>
          <p:cNvPr id="358" name="Rounded Rectangle 357"/>
          <p:cNvSpPr/>
          <p:nvPr/>
        </p:nvSpPr>
        <p:spPr>
          <a:xfrm>
            <a:off x="3383280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383280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3383280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代價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3383280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慢 5 倍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E 窗口窄(2e3)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純彈性 → 要十字形 + 解析 rest 才留形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6199632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6199632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199632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surface 還能做什麼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6199632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快速掃參數(3 分鐘一段)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折序、入箱流程驗證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現有 demo 影片已可用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9015984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015984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9015984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前提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9015984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接受十字形預裁包材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抓取改 attachment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手臂 + 布進同一模擬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卡點一:材料沒有塑性,折過不留痕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Rounded Rectangle 353"/>
          <p:cNvSpPr/>
          <p:nvPr/>
        </p:nvSpPr>
        <p:spPr>
          <a:xfrm>
            <a:off x="566928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566928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66928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現象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66928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壓到 117 放開彈回 130~134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放錨後撐滿內腔 263×223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開蓋後 yn 片彈開 250 mm</a:t>
            </a:r>
          </a:p>
        </p:txBody>
      </p:sp>
      <p:sp>
        <p:nvSpPr>
          <p:cNvPr id="358" name="Rounded Rectangle 357"/>
          <p:cNvSpPr/>
          <p:nvPr/>
        </p:nvSpPr>
        <p:spPr>
          <a:xfrm>
            <a:off x="3383280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383280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3383280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查過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3383280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schema 零塑性參數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runtime 改 rest / E / damping 無效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rest=快照 t=0 炸開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6199632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6199632" y="1572768"/>
            <a:ext cx="2615184" cy="47548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199632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找到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6199632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rest 用解析等距折算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points≠rest 會炸 → 建板 points=rest,reset 後寫回平板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十字形板留形 1~6 mm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9015984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015984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9015984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決定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9015984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十字形(裁掉四角)接不接受?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不接受 → 維持方板靠箱蓋壓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換 solver 也沒現成塑性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兩種包材都夾得住、掀得開(左 volume / 右 surface)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volume:間隙 4~5 mm,滑動 ~1 mm,翻面 100%,下片 0.8 mm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surface:間隙 2 mm(=2×rest),滑動 0.4 mm,翻面 74~83%,下片 3~5 mm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兩者穿杯 / 互穿 0;弧線半徑 ≤ 0.9× 材料長</a:t>
            </a:r>
            <a:endParaRPr/>
          </a:p>
        </p:txBody>
      </p:sp>
      <p:pic>
        <p:nvPicPr>
          <p:cNvPr id="347" name="11_peel_side_by_sid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3000517"/>
            <a:ext cx="5257800" cy="1478756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11351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0:10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453413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ea typeface="Microsoft JhengHei"/>
              </a:rPr>
              <a:t>G2 疊兩片只夾上片翻 180°:左 volume 4 mm 板、右 surface 零厚度膜(10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卡點二:整包上只夾到 3 個頂點,掀不開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即時抓取點 → 挑角 +10 mm → 夾到 3 點(要 ≥ 6)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整片 23% 越過折線,放開落回;他片帶動 6.8%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網格 14 mm vs 指面 20 mm,最多蓋 8 點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提案:夾合時 attachment 綁指間頂點</a:t>
            </a:r>
            <a:endParaRPr/>
          </a:p>
        </p:txBody>
      </p:sp>
      <p:pic>
        <p:nvPicPr>
          <p:cNvPr id="347" name="06_vol_grasp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261139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8528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273516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ea typeface="Microsoft JhengHei"/>
              </a:rPr>
              <a:t>開蓋後接續:挑角 → 夾 → 弧線掀 yn 片(15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手臂是 6 軸 follower:乾跑 v2 無碰撞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USD 關節 → URDF + Lula,FK 誤差 0;箱轉 180° 右手可達 #1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v2 穿入 ≤ 0.5 mm、兩臂 ≥ 10 mm;掀蓋改捏板厚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妥協:蓋 0→35° kinematic、其餘三蓋開 260°;σ 低至 0.015</a:t>
            </a:r>
            <a:endParaRPr/>
          </a:p>
        </p:txBody>
      </p:sp>
      <p:pic>
        <p:nvPicPr>
          <p:cNvPr id="347" name="08_arm_dr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993945"/>
            <a:ext cx="5257800" cy="1491900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120086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4540710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ea typeface="Microsoft JhengHei"/>
              </a:rPr>
              <a:t>v2 乾跑:左手捏後蓋板厚掀起、右手壓前蓋 → 右手到 #1 掀弧線(15 s,無碰撞)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降伏影片:壓到 32° → 放開 → 停 17°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原影片加壓 95%、放開 0.3%;重分配 30/10/60,三行字依序出現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陰性對照(0.6 倍)回到 0.00°:留住是塑性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規格 1.5 倍只留 4.2°;≥ 10° 需 2.2 倍</a:t>
            </a:r>
            <a:endParaRPr/>
          </a:p>
        </p:txBody>
      </p:sp>
      <p:pic>
        <p:nvPicPr>
          <p:cNvPr id="347" name="09_yield_ove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337816"/>
            <a:ext cx="5257800" cy="2804160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776216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96840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ea typeface="Microsoft JhengHei"/>
              </a:rPr>
              <a:t>過降伏(3.0 倍):加壓 30% / 放開 10% / 靜置 60%(15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困難總表:哪裡卡、為什麼、現在怎樣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54" name="Table 353"/>
          <p:cNvGraphicFramePr>
            <a:graphicFrameLocks noGrp="1"/>
          </p:cNvGraphicFramePr>
          <p:nvPr/>
        </p:nvGraphicFramePr>
        <p:xfrm>
          <a:off x="566928" y="1572768"/>
          <a:ext cx="11064239" cy="3705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743"/>
                <a:gridCol w="3682911"/>
                <a:gridCol w="4070585"/>
              </a:tblGrid>
              <a:tr h="408939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ea typeface="Microsoft JhengHei"/>
                        </a:rPr>
                        <a:t>卡點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ea typeface="Microsoft JhengHei"/>
                        </a:rPr>
                        <a:t>原因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ea typeface="Microsoft JhengHei"/>
                        </a:rPr>
                        <a:t>狀態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包裹疊太高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錨點把尖端釘在空中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✅ 已解:越線疊合、壓實不建錨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層間距 4.3 mm 壓不下</a:t>
                      </a:r>
                    </a:p>
                  </a:txBody>
                  <a:tcPr anchor="ctr" marL="73152" marR="73152">
                    <a:solidFill>
                      <a:srgbClr val="E8F2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ea typeface="Microsoft JhengHei"/>
                        </a:rPr>
                        <a:t>自碰撞靜止距離;縮就互穿</a:t>
                      </a:r>
                    </a:p>
                  </a:txBody>
                  <a:tcPr anchor="ctr" marL="73152" marR="73152">
                    <a:solidFill>
                      <a:srgbClr val="E8F2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ea typeface="Microsoft JhengHei"/>
                        </a:rPr>
                        <a:t>✅ 接受:等於泡泡紙實物厚度</a:t>
                      </a:r>
                    </a:p>
                  </a:txBody>
                  <a:tcPr anchor="ctr" marL="73152" marR="73152">
                    <a:solidFill>
                      <a:srgbClr val="E8F2E1"/>
                    </a:solidFill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放開回彈 / 撐滿內腔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材料純彈性,無塑性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🔄 解析 rest + 十字形留形,待決定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入箱段從沒跑成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缺 meta、蓋子預設關、杯子平移重算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✅ 已解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搬箱布滑 35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杯子壓穿底板,地板摩擦拖住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✅ 關地板碰撞 → 7 mm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整包夾不到點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粗網格 + 摩擦夾持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🛠️ 提案 attachment 抓取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手臂到不了 / 撞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6 軸臂工作空間邊緣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🔄 轉箱 180°、v2 乾跑中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12051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ea typeface="Microsoft JhengHei"/>
                        </a:rPr>
                        <a:t>agent 全部中斷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session 限流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ea typeface="Microsoft JhengHei"/>
                        </a:rPr>
                        <a:t>✅ 結果留硬碟,≤5 agent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方法:量頂點不看畫面,測試集抓假結果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Rounded Rectangle 353"/>
          <p:cNvSpPr/>
          <p:nvPr/>
        </p:nvSpPr>
        <p:spPr>
          <a:xfrm>
            <a:off x="566928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566928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66928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量測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66928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layer_gap / vol_pen 含合成自測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逐頂點比對內腔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邊級別穿杯</a:t>
            </a:r>
          </a:p>
        </p:txBody>
      </p:sp>
      <p:sp>
        <p:nvSpPr>
          <p:cNvPr id="358" name="Rounded Rectangle 357"/>
          <p:cNvSpPr/>
          <p:nvPr/>
        </p:nvSpPr>
        <p:spPr>
          <a:xfrm>
            <a:off x="3383280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383280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3383280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紀錄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3383280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RUNS.csv 122 次模擬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64 有效 / 36 無效標記</a:t>
            </a:r>
          </a:p>
          <a:p>
            <a:pPr algn="l"/>
            <a:r>
              <a:rPr sz="1300" b="0" i="0">
                <a:solidFill>
                  <a:srgbClr val="1A1A1A"/>
                </a:solidFill>
              </a:rPr>
              <a:t>• EXPERIMENTS / PITFALLS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6199632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6199632" y="1572768"/>
            <a:ext cx="2615184" cy="47548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199632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測試集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6199632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run_checks.py 13 項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golden 15/15:5 個已知壞案例全抓到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口徑:陷牆板 WARN、穿出 FAIL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9015984" y="1572768"/>
            <a:ext cx="2615184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015984" y="1572768"/>
            <a:ext cx="2615184" cy="475488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9015984" y="1572768"/>
            <a:ext cx="2615184" cy="475488"/>
          </a:xfrm>
          <a:prstGeom prst="rect">
            <a:avLst/>
          </a:prstGeom>
          <a:noFill/>
        </p:spPr>
        <p:txBody>
          <a:bodyPr wrap="square" anchor="ctr" lIns="128016" rIns="128016" tIns="36576" bIns="36576">
            <a:spAutoFit/>
          </a:bodyPr>
          <a:lstStyle/>
          <a:p>
            <a:pPr algn="l"/>
            <a:r>
              <a:rPr sz="1700" b="1" i="0" lang="zh-TW">
                <a:solidFill>
                  <a:srgbClr val="FFFFFF"/>
                </a:solidFill>
                <a:ea typeface="Microsoft JhengHei"/>
              </a:rPr>
              <a:t>交付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9015984" y="2103120"/>
            <a:ext cx="2615184" cy="4078224"/>
          </a:xfrm>
          <a:prstGeom prst="rect">
            <a:avLst/>
          </a:prstGeom>
          <a:noFill/>
        </p:spPr>
        <p:txBody>
          <a:bodyPr wrap="square" anchor="t" lIns="128016" rIns="128016" tIns="36576" bIns="36576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GitHub sim-forge/sims/…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USD + 雙臂場景可 clone 即跑</a:t>
            </a:r>
          </a:p>
          <a:p>
            <a:pPr algn="l"/>
            <a:r>
              <a:rPr sz="1300" b="0" i="0" lang="zh-TW">
                <a:solidFill>
                  <a:srgbClr val="1A1A1A"/>
                </a:solidFill>
                <a:ea typeface="Microsoft JhengHei"/>
              </a:rPr>
              <a:t>• 影片由指令重產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59" name="Google Shape;359;p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60" name="Google Shape;360;p8"/>
          <p:cNvGraphicFramePr/>
          <p:nvPr/>
        </p:nvGraphicFramePr>
        <p:xfrm>
          <a:off x="1181682" y="21470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89950"/>
                <a:gridCol w="9438700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決定:十字形預裁包材接不接受 → 接受就把解析 rest + 十字形接進 wrap_vol.py 跑全程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抓取改 attachment(夾合綁指間頂點、放開 RemovePrim),重跑整包掀開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手臂 v2 乾跑無碰撞 → 布 + 手臂同一模擬掀開最外層(最大一塊,2~4 天)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寬度:折邊搆到中線的布尺寸約 540×497;十字形後重算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可選:量真的泡泡紙(包好高度、壓放回彈)當口徑基準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持續:每段 commit、大改 push;RUNS.csv / 測試集跟著更新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1" name="Google Shape;361;p8"/>
          <p:cNvSpPr/>
          <p:nvPr/>
        </p:nvSpPr>
        <p:spPr>
          <a:xfrm>
            <a:off x="1181682" y="1857092"/>
            <a:ext cx="3127851" cy="28786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Todolist &amp; Suggestion from Prof.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ea typeface="Microsoft JhengHei"/>
              </a:rPr>
              <a:t>下一步:決定十字形包材 → attachment 抓取 → 手臂 + 布同一模擬掀開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2024-07-03T12:38:17Z</dcterms:created>
  <dc:creator>Isadora Lo</dc:creator>
  <cp:contentStatus>acm-composed</cp:contentStatus>
</cp:coreProperties>
</file>