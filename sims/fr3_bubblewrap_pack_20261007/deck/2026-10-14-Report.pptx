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  <p:sldId id="920" r:id="rId49"/>
    <p:sldId id="921" r:id="rId50"/>
    <p:sldId id="922" r:id="rId51"/>
    <p:sldId id="923" r:id="rId52"/>
    <p:sldId id="924" r:id="rId53"/>
    <p:sldId id="925" r:id="rId54"/>
    <p:sldId id="926" r:id="rId55"/>
    <p:sldId id="927" r:id="rId56"/>
    <p:sldId id="928" r:id="rId57"/>
    <p:sldId id="929" r:id="rId58"/>
    <p:sldId id="930" r:id="rId59"/>
    <p:sldId id="931" r:id="rId60"/>
    <p:sldId id="932" r:id="rId61"/>
    <p:sldId id="933" r:id="rId62"/>
    <p:sldId id="934" r:id="rId63"/>
    <p:sldId id="935" r:id="rId64"/>
    <p:sldId id="936" r:id="rId65"/>
    <p:sldId id="937" r:id="rId66"/>
    <p:sldId id="938" r:id="rId67"/>
    <p:sldId id="939" r:id="rId68"/>
    <p:sldId id="940" r:id="rId69"/>
    <p:sldId id="941" r:id="rId70"/>
    <p:sldId id="942" r:id="rId71"/>
    <p:sldId id="943" r:id="rId72"/>
    <p:sldId id="944" r:id="rId7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1" Type="http://schemas.openxmlformats.org/officeDocument/2006/relationships/slide" Target="slides/slide33.xml"/><Relationship Id="rId62" Type="http://schemas.openxmlformats.org/officeDocument/2006/relationships/slide" Target="slides/slide34.xml"/><Relationship Id="rId63" Type="http://schemas.openxmlformats.org/officeDocument/2006/relationships/slide" Target="slides/slide35.xml"/><Relationship Id="rId64" Type="http://schemas.openxmlformats.org/officeDocument/2006/relationships/slide" Target="slides/slide36.xml"/><Relationship Id="rId65" Type="http://schemas.openxmlformats.org/officeDocument/2006/relationships/slide" Target="slides/slide37.xml"/><Relationship Id="rId66" Type="http://schemas.openxmlformats.org/officeDocument/2006/relationships/slide" Target="slides/slide38.xml"/><Relationship Id="rId67" Type="http://schemas.openxmlformats.org/officeDocument/2006/relationships/slide" Target="slides/slide39.xml"/><Relationship Id="rId68" Type="http://schemas.openxmlformats.org/officeDocument/2006/relationships/slide" Target="slides/slide40.xml"/><Relationship Id="rId69" Type="http://schemas.openxmlformats.org/officeDocument/2006/relationships/slide" Target="slides/slide41.xml"/><Relationship Id="rId70" Type="http://schemas.openxmlformats.org/officeDocument/2006/relationships/slide" Target="slides/slide42.xml"/><Relationship Id="rId71" Type="http://schemas.openxmlformats.org/officeDocument/2006/relationships/slide" Target="slides/slide43.xml"/><Relationship Id="rId72" Type="http://schemas.openxmlformats.org/officeDocument/2006/relationships/slide" Target="slides/slide44.xml"/><Relationship Id="rId73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先講結論:逆物流情境的 3D 模型已經建完,交付在 sim-forge 的 fr3_bubblewrap_pack_handoff_20261007。整個場景是一個 USD 檔 scene_final_phys.usd,裡面有雙臂工作站、紙箱、泡泡紙包裹和馬克杯,每個物件都有物理,不是只有外觀。左邊是場景全貌,紙箱放在兩隻手臂中間。右邊四張依序是關著的紙箱、蓋子推開後、把紙箱藏起來看包裹、再把包材藏起來看杯子;杯子在包裹裡是側躺的,這是模擬包裝的結果。接下來幾張逐一說明每個物件怎麼建、參數從哪裡來、驗證到什麼程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這張是整個模型的規格表,每一列是一個物件。雙臂工作站沿用原本的 stationary_ai 場景,手臂和桌子完全沒改,只把原本的紙箱換成我們的包裹,位置對齊原紙箱中心,離四根夾爪指頭都是 68.7 mm。紙箱是剛體加四個摺痕關節,摺痕的力學是我們自己的模型,下一張細講。泡泡紙是 surface deformable,1225 個頂點,材料參數從模擬開發階段沿用。杯子是剛體,碰撞體貼著外形做。物理場景是 120 Hz、TGS 求解器、GPU dynamics,包材的求解迭代從 64 降到 8,畫面快了一倍。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紙箱的幾何沿用 make_carton_P 產生的 Box B,外尺寸 270 乘 230 乘 134 mm,板厚 3 mm,密度 200,所以上蓋 17.4 克、下蓋 15.1 克。下蓋長 115 mm,兩片之間留 34 mm 的縫,這是真實 RSC 紙箱內側短翼不對接的樣子。摺痕不是彈簧,是彈塑性:每個物理步依照蓋子現在的角度算出力矩施加上去,超過降伏彎矩 0.12 N·m 就留下永久折痕,放手會回彈 45 度,重複摺會變軟。前後蓋預開 50 和 60 度,是為了跟手臂開箱流程 co7b 用同一個紙箱。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這張是摺痕的驗證。我們有兩個參考:一個是 co7b,也就是雙臂開箱流程實際跑出來的結果,蓋子推到 166 到 168 度、放手停在 122 到 125 度;另一個是文獻,Nagasawa 2019 的紙板摺痕試驗,摺到 90 度放手會彈回到 43 到 46 度。原本 co7b 的摺痕定律只對得上第一個,90 度會停在 63 度,而且摺越深越硬,跟文獻相反。現在的參數兩個都對得上:165 度停 123 度,90 度停 43 度,模擬和模型預測差不到 0.3 度。參數是先把重力算進去做準靜態掃描選出來的,因為蓋子本身的重量會讓它下垂好幾度。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泡泡紙的形狀不是手畫的,是用模擬把攤平的布四折包住杯子、再放進箱子得到的結果,存成 states/box.npz,每個頂點都檢查過在紙箱內腔裡。把這個包好的形狀直接設成 deformable 的靜止形狀,所以折痕不會一播放就彈開。材料是 surface deformable,楊氏模數 2e4 Pa、厚 4 mm、摩擦 0.8,大約 65 克。箱底下面和四面箱壁外都墊了 20 mm 厚的隱形碰撞體,只跟布碰撞,避免布一步穿過 3 mm 的紙板;手臂、杯子、滑鼠和桌面都不受影響。要注意交付的場景用的是 surface 包材,後面報告的 volume 包材是下一版的方向。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杯子是 0.32 公斤的剛體,摩擦 0.9。GPU 上的凸包有頂點數上限,所以杯身用一圈一圈的凸台疊起來貼著外形,把手用 13 顆半徑 10 mm 的球沿中心線排,這樣杯子內部是空的,布可以塞進杯口。整個包裝流程下來,杯子相對紙箱只平移了 11.5 mm,沒有穿模。靜置測試裡,紙箱位移 0 mm,布穿出側牆 0 個頂點。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交付包不只是一個 USD 檔,還有啟動腳本。open_in_webrtc.sh 會自動找 Isaac Sim 裝在哪裡,binary、Docker 或 pip 版都可以,找不到可以指定路徑,加 --check 只印偵測結果不啟動。啟動後會開場景、載入摺痕模型、把包材迭代設成 8,然後自動按 Play。使用者可以直接用滑鼠左鍵拖紙箱、推蓋子,不用按 Shift。最後一步是給手臂用的:Ctrl 加左鍵點場景上任何一點,那個 3D 座標會以 geometry_msgs/PointStamped 發到 ROS 2 的 /clicked_point,frame 是 world,手臂那邊直接訂閱就能拿到目標點。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這張是修正後的狀態。上一版列的三個問題,前兩個已經修掉:交付的場景從 10/7 以後沒有重建,所以 build 腳本裡的修正一直沒進去,我寫了 patch_scene.py 只補這三項,不動其他東西。第一,箱壁外和兩片上蓋外側加 20 mm 的隱形墊片,只跟布碰撞,0.08 公尺、3 Hz 的甩動穿牆從 87 個頂點降到 18,結束時是 0。第二,蓋子慣量改成由幾何計算,原本寫死的值大約是真實的 180 倍,箱體也從 0.352 公斤修正成 0.110 公斤;因為慣量變小,摺痕阻尼改成依每片蓋子的慣量取 0.6 倍臨界阻尼,不然顯式施加的力矩會發散。修完後摺痕驗證全部重跑,推到 166 度停在 125 度、摺到 90 度停在 44 度,和模型差不到 0.2 度。剩下一個場景碰撞:側蓋如果被推過大約 169 度,會靠在旁邊閒置手臂的夾爪指頭上,停在 145 度而不是 130 度,接觸回報確認是夾爪,不是摺痕模型的問題,手臂實驗時要注意另一隻手的位置。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這段涵蓋 10/7 到 10/14 的包材與抓取。前面幾張快速回顧根因、surface 定案與 volume 版。主體是本週:為什麼包材定為 volume、夾布怎麼建模、整包掀開、手臂和布放進同一個模擬。下午補上的結果改變了結論:代理夾爪的 100% / 62% 重跑三次重現不了,他片三方案也都沒過,所以下一步先讓掀開可重現。所有數字都來自 log 或 md,量不到的寫未量。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 影片左邊是 tip_over 40 的版本,是第一個乾淨的改善;右邊是把膜做薄的反例,自穿模直接爆掉,說明縮厚度這條路走不通。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 影片左右對照收耳 off 與 on:不收耳時四個角翹起來,收耳後才能乾淨入箱,所以定案參數 tuck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 DECISION_phase3 的決定,判準是使用者 10/7 定的三項。volume 在夾持、穿模、重現性三軸勝出,這三項是驗收時最能說清楚的。surface 唯一贏的是計算速度,所以保留當快速對照與掃參數工具。外觀兩邊各有缺,volume 角落會翹、會撐滿內腔,但開蓋後布能留在箱內。另一個理由是手臂接觸需要實體厚度,surface 的夾持窗口只有 2 mm,對手臂控制太苛。正式參數是 E 2e3、厚 4 mm、500×500、solver 128、dt 1/240。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上週整包上純摩擦只夾到 3 個頂點,所以本週先查文獻別人怎麼在模擬裡夾布。SoftGym 和 FlingBot 都是用 picker 綁定最近的粒子,完全不建夾爪幾何。NVIDIA 論壇上有人遇到跟我們一樣的狀況,官方回覆就是摩擦不夠改 attachment。Isaac Lab 4628 則說明 deformable 不能直接綁 articulation,這決定了後面手臂場景要用代理方塊。從疊層只抓最外面一片,文獻查不到現成做法,是我們自己做的。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做法是保留摩擦接觸,但在夾爪合指完成的那一格,把指面足跡外擴 24 mm、指間中面帶內的頂點綁到手指上。只挑 yn 最外層那一片的頂點,靠 layer_order.py 依折序歸屬;上下兩層都綁,因為只綁上層時下層會被拖、四面體拉長。綁定是無限剛度,拉過頭會撕布,所以加了守衛:邊長比超過 2.3 自動放手。grip_attach README 原本推薦 pad 16,整包時改 24。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整包之前先在單片與兩片疊層上驗證綁定。左邊是純摩擦,右邊是綁定。綁上下兩層時滑動不到 0.14 mm,邊長比 1.67 到 1.81;只綁上層會滑 0.2 到 0.7 mm 且下層被拉長。G2a 兩片疊起來只綁上片翻 180 度,無重物時翻面 100% 和 98%,釋放後 100%。釋放本身乾淨,沒有黏住或彈飛。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這張表是整包掀 yn 片的四次嘗試。純摩擦只夾到 3 點,越線 23%。改綁定但抓角尖,指間只有 1 點,越線 5%。改抓自由邊中段,綁到 12 點、越線 71%,但放手後只剩 1%,整片彈回。最後一步把弧線終點改成繞過箱壁頂角翻到箱外,越線 100%、放手後 62%。所以兩個關鍵是抓的位置和弧線終點,不是綁定參數。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左邊是純摩擦,手指合上後布從指間滑出,只有 3 個頂點在指間,越線 23%。右邊已經換成綁定,但抓的是角尖,角尖在指間只有 1 到 2 個頂點,綁 1 點等於沒抓,越線 5%。這兩支證明問題不只是摩擦不夠,抓的位置也錯。改抓自由邊中段後綁到 12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左右兩邊綁點一樣都是 12 點,差別只在弧線終點。左邊停在箱內放手,材料是純彈性,放手後整片彈回,只剩 1% 越線。右邊把弧線繞過箱壁頂角翻到箱外,布掛在箱壁上撐住,放手後還有 62%。這也呼應卡點:材料沒有塑性,只能靠幾何讓它留在掀開的位置。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這是代理夾爪下第一輪的最好結果,夾爪是兩個 kinematic 方塊,不是手臂。53 秒合指、綁 12 點,沿弧線繞過箱壁頂角翻出,65 秒放手,yn 越線 100%、放手後 62%,滑動最大 0.2 mm,杯位移 2.9 mm,穿杯 0。但下午重跑發現這是單次樣本:同一指令重跑三次,yn 越線只有 0 到 44%,放手後 0 到 16%。而且這次夾前杯頂覆蓋只有 48%,yn 片已經自己半開,比其他次容易。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out_ga3 整體判定仍是 FAIL,原因兩個。第一是掀 yn 時其他片超過 10 mm 位移的頂點佔 20%,判準是 5%,主要是 xp 和 xn 被拖。第二是 yp 只綁到 8 點,名義越線 73%,但實測彎折只有 40%,代表 yp 是整片被抬起,而不是沿折線翻過去。影片是 yp 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這張是下午最重要的發現。out_ga3 的指令原樣重跑三次,yn 越線是 44、0、42%,放手後 16、0、1%。加上一組釘 0 點、等於基準的 B2_p8,yn 有綁到的四次越線 42 到 100%,放手後 1 到 100%,他片 4.9 到 20.8%。變異來源是四折之後的狀態每次不同,夾前杯頂覆蓋從 48% 到 91%,抓取點和綁點數跟著變,GPU PhysX 本身也不可重現。結論是 100% / 62% 只是一次樣本,之後所有判讀都要跑至少三次看分布。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根據 DRAG 的結論,下午改做抓取魯棒性。--grasp_site state 是看實際狀態,在自由邊上取 7 個候選點,離線估綁點數、是否被他片壓住、下方有沒有支撐,再排序選點。--grasp_retry 是綁點少於 6 就抬起換點重夾。結果綁點下限從 0 提到 14,yn 越線平均從 47% 到 65%,但五次只有兩次達到 80%,放手後 0 到 75%。他片和杯位移反而變大,因為綁得多拉得多。所以失敗點從抓不到變成掀不起來,下一步要看掀的軌跡和守衛。r6、r7 跑的時候 GPU 有其他模擬共用,可能有影響。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本週第二條線是把布和手臂放進同一個模擬。load_cloth.py 把 wrap_vol 產出的包裹狀態載入雙臂場景,先做乾跑確認不炸。注意手臂場景 peel 的 json 參數是 E 2e4,跟代理夾爪線的 2e3 不一樣,這是兩條線目前不一致的地方。手臂還是 6 軸 follower 而不是 FR3。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手臂場景遇到兩個 Isaac Sim 限制。第一,attachment 不能直接綁到 articulation 的 gripper link,這跟 Isaac Lab 4628 一致,所以做一個沒有碰撞的 kinematic 代理方塊,每一格跟著 TCP 走,attachment 綁在方塊上。第二,在 wrap_vol 單獨跑時用 RemovePrim 放手正常,但在手臂場景 RemovePrim 會讓程序直接結束、沒有任何錯誤訊息,所以改成把 attachmentEnabled 設成 False。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r1 是第一次手臂 + 布掀開。夾持軸和布邊切線平行,兩指之間根本沒有布,足跡內雖然有 68 個點,但法向距離都在指間帶外,選中 0 點。結果 yn 越線只有 1.4%。這支證明夾持方向是第一個要對的東西。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r2 沿用 v2 乾跑軌跡,把綁定的高度帶放寬 14 mm,終於綁得到點。釋放前 yn 名義越線 59.8%、實測 55.9%,但他片被拖 29%,而且指頭下降時插進布 6.9 mm。這次放手後的越線沒有量到。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r3 想把夾持位置修正 72 mm,用數值 Jacobian 去改關節角,結果發散,手臂亂走,yn 越線只有 4 到 7%,布的自穿到 122。這支是反面教材,之後整條軌跡改用 Lula IK 重新解,不要在原軌跡上做小修正。 這支影片留在簡報裡,是要提醒之後改軌跡時一律整條重解。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v3 全部用 Lula IK 重解。鉸點用 yn 實測的折線,不是理論折線。抓法是在自由邊外 8 到 24 mm 垂直下降,再水平滑入 8 mm 到布中面才合指,讓夾持軸垂直布面。之後半徑 143 mm 掃到 100 度,再直線到牆外 20 mm、牆頂上 40 mm。為了找可達又不撞的姿態,掃了 210 組 φ、ψ 和偏移的組合。u 是沿自由邊的位置參數。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同一套 v3 方法,只差抓取位置。u0.45 時指頭下降把布壓下去,指間只剩 1 點,越線 26%、放手後 2%。u0.60 綁到 18 到 24 點,越線 64 到 68%,放手後 56 到 66%,這是手臂線目前最好的結果。但兩次跑他片拖動一次 52% 一次 16%,差很大,代表結果對初始條件很敏感。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 INTERFACE 第 5 節的數據。代理夾爪是上限參考。手臂線 v3 u0.60 是最好的一組,放手後越線過了 50% 的判準,但他片拖動和下降穿入都沒過。yp 片 u0.40 只綁 5 點,而且 IK 的最小奇異值 0.015,接近奇異姿態。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第一個卡點是幾何。follower gripper 的指頭是 36×70×60 mm 的盒子,而包裹開蓋後 yn 自由邊是皺的,指頭要下到布中面高度,一定會碰到旁邊皺起來的布。v3 u0.60 下降時插進布 18 mm。210 組姿態掃描裡沒有任何一組能完全不插。所以要嘛換細指頭,要嘛先撥布,這是下一步的選項。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他片拖動三條方案上午第一輪 9 組、下午第二輪 5 組,全部沒過。有限剛度這條,探針證實 PhysX 107.3 把 VtxXformAttachment 當硬約束,stiffness 設 0.01 理論應伸長 46 mm,實際是 0;改用力限的動態代理,越線和放手後都掉下來。釘住 xp/xn 模擬第二隻手,釘 24 點時釘住期間他片壓到 5.2%,但 yn 只掀 44%,放開釘點又回到 16%;釘 167 點反而把整張扯動。先解耦再掀那組,弧線外延 30 mm 把布拉到觸發守衛,方法本身沒測到。最根本的是抓取不可重現,同指令差到 ±16 點,任何他片 −10 點的改善都看不出來。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把判準和兩條線並排。代理夾爪除了他片拖動都過了。手臂線放手後和穿杯過了,越線只有 64 到 68%,沒到 80%。手臂線的滑動 json 裡有 slip 欄位 1.76 和 3.19,但口徑跟代理夾爪的頂點滑動是否相同沒確認,所以表上寫未量。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為了讓包裹不只有一種樣子,wrap_vol 加了折序、杯子偏位、杯子轉向和 seed 四個旗標。24 種折序全部能完成入箱,不看邊長比的物理判準 20 組過,加上邊長比 0.50 到 1.65 的嚴格判準是 9 組;嚴格失敗多半是交錯折序把角落拉長。layer_order 算出的最外層有 22 組等於最後折的那片,所以手臂端可以直接用 fold_order 的最後一片當抓取片。隨機抽 12 組時,不收耳的 8 組全部超出內腔,所以抽樣要固定 tuck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使用者看影片發現 volume 布一直在抖。根因有三個疊在一起:阻尼設 0、自碰撞時上下層互相推、E 2e3 本身很軟。用每格頂點位移 RMS 量顫抖,四折停留段 base 是 0.358 mm 每格,edamp 0.02 降到 0.213,約少 40%,自穿從 9 降到 0。影片左右是同一段四折,左邊沒阻尼,右邊 edamp 0.02。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十組短跑掃描。edamp 0.05 顫抖最低,但邊長比最大到 2.19、有局部拉扯。edamp 0.02 顫抖少 40%、自穿 0、邊長比最接近 base,是最平衡的一組。edamp 0.2 布已經嚴重變形,0.5 以上錨點到位但布跟不上,折不上去。ldamp 線性阻尼幾乎沒幫助,靜置段顫抖反而變大。 但加阻尼跑完整鏈,抓取段明顯變差:edamp 0.05 越線 59%、放手後 0%,edamp 0.02 夾持中滑 84 mm、越線 0%,所以抓取鏈維持阻尼 0,只有展示折疊影片用 0.02。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倍率是 wall 除以 sim,越小越快,基準整鏈 7.41、折疊段 7.04。渲染只佔約 8% 的時間,所以 --vid_every 4 只省 7%,降解析度省 1.5%,但物理完全不變,掃參數時可以用。--fast_pts 想用 tensor API 直讀節點,這版 physics.tensors 對 volume deformable 回傳 0 個節點,自動退回 USD,而 USD 讀寫本來就只要 0.02 ms。物理放寬,dt 1/120 或 solver 64 折疊段快 30 到 52%,但三組整鏈放手後都掉到 0 到 13%,基準是 62%,判定傷品質。整鏈倍率跑的時候其他模擬同時在跑,被污染,只看品質欄。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dt 1/120 的整鏈 yn 越線還是 100%,但放手後是 0%,整片彈回,而且他片被拖 52%,遠比基準的 20% 差。所以單看越線會誤判 dt 1/120 可用,實際上放手後的結果不能接受。速度改動一定要跑整條鏈、看放手後的數字才能定。 solver 64 和兩者合用也一樣,三組放手後都在 0 到 13% 之間,方向一致。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工程面的交付。所有程式、USD、手臂 URDF 和軌跡都推到 sim-forge 的 sims 資料夾,clone 下來照 README 就能跑。測試集 run_checks.py 有 10 個 check 函式、共 23 個檢查項,RUNS.csv 記了 122 次模擬。demo 影片分五段加一支總集,總長 263.8 秒,用 make_demo_videos.sh 一個指令重產。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FINAL_PLAN 第一節的比較精簡成六列。使用者的終點是手臂夾緊、掀開、外觀和物理正確,這幾項 volume 都比 surface 好或持平,surface 唯一的優勢是快,所以用 surface 先篩參數、volume 出正式結果。正式版是 wrap_vol.py 一支程式跑整鏈,物理 E 2e3、厚 4 mm、solver 128、dt 1/240、阻尼 0,幾何 500 mm、tuck 1,抓取用綁定加弧線翻出。注意表上 volume 掀 100% 是單次樣本,重跑不可重現。兩種包材都沒有塑性。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把卡點重新排過。下午之後最上面一項變成掀開不可重現:同指令 yn 越線 0 到 100%,四折後狀態每次不同,GPU PhysX 也不決定。抓取端已經用 grasp_site state 把綁點穩定在 14 到 31,剩下要查的是掀的軌跡和守衛。他片拖動 14 組都沒過,attachment stiffness 被 PhysX 忽略,第二隻手要一直壓到 yn 放手之後才有機會。指頭插布要換細的指頭模型。材料塑性仍無解。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下一步的順序改了。第一是讓掀開可重現,抓取已經穩到綁 14 點以上,但越線還是 11 到 100%,要查掀的軌跡和守衛,每組至少跑三次看分布。第二才是壓他片,第二隻手要一直壓到 yn 翻出箱外並放手之後才放開,而且釘點要少。第三是把指頭盒換成細指頭模型。正式版旗標固定不再隨手改,折法多樣性抽樣時固定收耳。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1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1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1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image" Target="../media/image1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microsoft.com/office/2007/relationships/media" Target="../media/media11.mp4"/><Relationship Id="rId4" Type="http://schemas.openxmlformats.org/officeDocument/2006/relationships/video" Target="../media/media11.mp4"/><Relationship Id="rId5" Type="http://schemas.openxmlformats.org/officeDocument/2006/relationships/image" Target="../media/image1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microsoft.com/office/2007/relationships/media" Target="../media/media12.mp4"/><Relationship Id="rId4" Type="http://schemas.openxmlformats.org/officeDocument/2006/relationships/video" Target="../media/media12.mp4"/><Relationship Id="rId5" Type="http://schemas.openxmlformats.org/officeDocument/2006/relationships/image" Target="../media/image1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microsoft.com/office/2007/relationships/media" Target="../media/media13.mp4"/><Relationship Id="rId4" Type="http://schemas.openxmlformats.org/officeDocument/2006/relationships/video" Target="../media/media13.mp4"/><Relationship Id="rId5" Type="http://schemas.openxmlformats.org/officeDocument/2006/relationships/image" Target="../media/image1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Relationship Id="rId3" Type="http://schemas.microsoft.com/office/2007/relationships/media" Target="../media/media14.mp4"/><Relationship Id="rId4" Type="http://schemas.openxmlformats.org/officeDocument/2006/relationships/video" Target="../media/media14.mp4"/><Relationship Id="rId5" Type="http://schemas.openxmlformats.org/officeDocument/2006/relationships/image" Target="../media/image2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Relationship Id="rId3" Type="http://schemas.microsoft.com/office/2007/relationships/media" Target="../media/media15.mp4"/><Relationship Id="rId4" Type="http://schemas.openxmlformats.org/officeDocument/2006/relationships/video" Target="../media/media15.mp4"/><Relationship Id="rId5" Type="http://schemas.openxmlformats.org/officeDocument/2006/relationships/image" Target="../media/image2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microsoft.com/office/2007/relationships/media" Target="../media/media16.mp4"/><Relationship Id="rId4" Type="http://schemas.openxmlformats.org/officeDocument/2006/relationships/video" Target="../media/media16.mp4"/><Relationship Id="rId5" Type="http://schemas.openxmlformats.org/officeDocument/2006/relationships/image" Target="../media/image22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2026.10.14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3D 模型建構完成(雙臂場景 + 紙箱 + 泡泡紙 + 杯子);逆物流 Demo:volume 泡泡紙包材 + 紙箱 + 杯子 + 雙臂場景;夾布 = 摩擦 + 合指綁定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夾布建模文獻快查:SoftGym、FlingBot、Isaac Lab #4628、NVIDIA forum 312694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sim-forge repo、測試集、RUNS.csv 122 列、demo 一鍵產生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3D 模型建構完成:scene_final_phys.usd,紙箱摺痕對齊文獻與 co7b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包材定為 volume(FINAL_PLAN),surface 只做篩選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🛠️ 代理夾爪 100% / 62% 單次;重跑 0~44%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抓取魯棒性:綁點 14~31,越線 ≥80% 只 2/5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❌ 他片三方案 14 組皆未過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手臂 v3 u0.60:掀 64~68%;指頭插布 18 mm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折法多樣性:24 折序全可入箱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阻尼、速度掃描;sim-forge 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3D 模型建構完成:一個檔案就能開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雙臂工作站 + 紙箱 + 泡泡紙 + 馬克杯,全部有物理;clone 下來直接用</a:t>
            </a:r>
            <a:endParaRPr/>
          </a:p>
        </p:txBody>
      </p:sp>
      <p:pic>
        <p:nvPicPr>
          <p:cNvPr id="347" name="Picture 346" descr="m3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88" y="2201164"/>
            <a:ext cx="9561118" cy="3705860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scene_final_phys.usd(RTX 渲染);右下兩張隱藏了外層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四個物件,各自的物理模型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910690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數字都來自 USD、build 腳本或量測 log</a:t>
            </a:r>
            <a:endParaRPr/>
          </a:p>
        </p:txBody>
      </p:sp>
      <p:graphicFrame>
        <p:nvGraphicFramePr>
          <p:cNvPr id="340" name="Table 339"/>
          <p:cNvGraphicFramePr>
            <a:graphicFrameLocks noGrp="1"/>
          </p:cNvGraphicFramePr>
          <p:nvPr/>
        </p:nvGraphicFramePr>
        <p:xfrm>
          <a:off x="566928" y="2539086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3268980"/>
                <a:gridCol w="2766060"/>
                <a:gridCol w="3520439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物件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幾何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物理模型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關鍵參數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雙臂工作站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stationary_ai 原場景,手臂與桌子不動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articulation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紙箱在兩臂正中,離夾爪 68.7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紙箱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latin typeface="Calibri"/>
                          <a:ea typeface="Microsoft JhengHei"/>
                        </a:rPr>
                        <a:t>270 × 230 × 134 mm,3 mm 板,四片蓋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latin typeface="Calibri"/>
                          <a:ea typeface="Microsoft JhengHei"/>
                        </a:rPr>
                        <a:t>剛體 + 摺痕關節(每步施力矩)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latin typeface="Calibri"/>
                          <a:ea typeface="Microsoft JhengHei"/>
                        </a:rPr>
                        <a:t>降伏 0.12 N·m,回彈 45°,重複摺變軟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泡泡紙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1225 頂點 / 2312 三角形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surface deformable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E 2e4 Pa,厚 4 mm,μ 0.8,≈ 65 g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馬克杯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高 93 mm,側躺在包裹內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剛體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0.32 kg,μ 0.9,外形凸台 + 把手 13 球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物理場景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PhysicsScene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GPU dynamics,TGS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120 Hz,迭代 8 / 1;包材迭代 8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紙箱:四片蓋,摺痕會降伏、會回彈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 270 × 230 × 134 mm,3 mm 板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箱體 0.110 kg;蓋 15~17 g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摺痕 = 每步施加的力矩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降伏 0.12 N·m,回彈 45°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重複摺疊會變軟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前後蓋預開 50° / 60°(配合 co7b)</a:t>
            </a:r>
            <a:endParaRPr/>
          </a:p>
        </p:txBody>
      </p:sp>
      <p:pic>
        <p:nvPicPr>
          <p:cNvPr id="347" name="Picture 346" descr="m3d_car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575740"/>
            <a:ext cx="5257800" cy="4271962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6373368" y="590256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四片蓋推開後(俯視);箱內是泡泡紙包裹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摺痕驗證:165° → 123°,90° → 43°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02028"/>
            <a:ext cx="5257800" cy="46158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前後蓋推到 165°:停 122.9° / 123.5°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co7b 手臂實跑 122.5~125.1°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全關推到 89°:停 43.0°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文獻 43~46°(Nagasawa 2019)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模型預測 vs 模擬 ≤ 0.3°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co7b 原定律:90° 停 63°,越摺越硬</a:t>
            </a:r>
            <a:endParaRPr/>
          </a:p>
        </p:txBody>
      </p:sp>
      <p:pic>
        <p:nvPicPr>
          <p:cNvPr id="347" name="Picture 346" descr="m3d_cr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602029"/>
            <a:ext cx="5257800" cy="4206240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6373368" y="5863134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放手後停的角度 vs 推到的角度;實線含蓋子重力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泡泡紙:模擬折出來的形狀當靜止形狀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surface deformable,1225 頂點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Pa、厚 4 mm、μ 0.8、65 g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靜止形狀 = 包好的形狀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箱壁外 + 箱底 20 mm 隱形墊片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交付版是 surface;volume 見後面</a:t>
            </a:r>
            <a:endParaRPr/>
          </a:p>
        </p:txBody>
      </p:sp>
      <p:pic>
        <p:nvPicPr>
          <p:cNvPr id="347" name="Picture 346" descr="m3d_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575740"/>
            <a:ext cx="5257800" cy="4271962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6373368" y="590256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把紙箱隱藏後的包裹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馬克杯:剛體,碰撞體貼外形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剛體 0.32 kg,μ 0.9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碰撞體 = 外形疊凸台 + 把手 13 球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球半徑 10 mm,沿把手中心線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包裝後杯子位移 11.5 mm(剛體平移)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靜置:紙箱 0 mm、布不穿牆</a:t>
            </a:r>
            <a:endParaRPr/>
          </a:p>
        </p:txBody>
      </p:sp>
      <p:pic>
        <p:nvPicPr>
          <p:cNvPr id="347" name="Picture 346" descr="m3d_m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575740"/>
            <a:ext cx="5257800" cy="4271962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6373368" y="590256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把紙箱和包材都隱藏後的杯子(側躺)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互動:滑鼠拖拉、Ctrl+點擊送 ROS 2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2024685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一行指令開場景;Isaac 位置自動偵測(binary / Docker / pip)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交付:sim-forge / sims / fr3_bubblewrap_pack_handoff_20261007</a:t>
            </a: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566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566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3E5F27"/>
                </a:solidFill>
                <a:latin typeface="Calibri"/>
              </a:rPr>
              <a:t>open_in_webrtc.sh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或 open_in_ui.sh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2523744" y="3788968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/>
          <p:cNvSpPr txBox="1"/>
          <p:nvPr/>
        </p:nvSpPr>
        <p:spPr>
          <a:xfrm>
            <a:off x="566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--check 只印偵測結果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port 被佔用自動換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2852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852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 lang="zh-TW">
                <a:solidFill>
                  <a:srgbClr val="3E5F27"/>
                </a:solidFill>
                <a:latin typeface="Calibri"/>
                <a:ea typeface="Microsoft JhengHei"/>
              </a:rPr>
              <a:t>開場景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scene_final_phys.usd</a:t>
            </a:r>
          </a:p>
        </p:txBody>
      </p:sp>
      <p:cxnSp>
        <p:nvCxnSpPr>
          <p:cNvPr id="346" name="Connector 345"/>
          <p:cNvCxnSpPr/>
          <p:nvPr/>
        </p:nvCxnSpPr>
        <p:spPr>
          <a:xfrm>
            <a:off x="4809744" y="3788968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TextBox 346"/>
          <p:cNvSpPr txBox="1"/>
          <p:nvPr/>
        </p:nvSpPr>
        <p:spPr>
          <a:xfrm>
            <a:off x="2852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載入紙箱摺痕模型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包材迭代設 8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約 20 s 出現 READY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38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3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5138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 lang="zh-TW">
                <a:solidFill>
                  <a:srgbClr val="3E5F27"/>
                </a:solidFill>
                <a:latin typeface="Calibri"/>
                <a:ea typeface="Microsoft JhengHei"/>
              </a:rPr>
              <a:t>按 Play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WebRTC 自動按</a:t>
            </a:r>
          </a:p>
        </p:txBody>
      </p:sp>
      <p:cxnSp>
        <p:nvCxnSpPr>
          <p:cNvPr id="350" name="Connector 349"/>
          <p:cNvCxnSpPr/>
          <p:nvPr/>
        </p:nvCxnSpPr>
        <p:spPr>
          <a:xfrm>
            <a:off x="7095744" y="3788968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TextBox 350"/>
          <p:cNvSpPr txBox="1"/>
          <p:nvPr/>
        </p:nvSpPr>
        <p:spPr>
          <a:xfrm>
            <a:off x="5138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120 Hz 物理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WebRTC 版自動按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7424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7424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 lang="zh-TW">
                <a:solidFill>
                  <a:srgbClr val="3E5F27"/>
                </a:solidFill>
                <a:latin typeface="Calibri"/>
                <a:ea typeface="Microsoft JhengHei"/>
              </a:rPr>
              <a:t>滑鼠拖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力量式 70</a:t>
            </a:r>
          </a:p>
        </p:txBody>
      </p:sp>
      <p:cxnSp>
        <p:nvCxnSpPr>
          <p:cNvPr id="354" name="Connector 353"/>
          <p:cNvCxnSpPr/>
          <p:nvPr/>
        </p:nvCxnSpPr>
        <p:spPr>
          <a:xfrm>
            <a:off x="9381744" y="3788968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7424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拖紙箱、推蓋子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不用按 Shift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9710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5</a:t>
            </a:r>
          </a:p>
        </p:txBody>
      </p:sp>
      <p:sp>
        <p:nvSpPr>
          <p:cNvPr id="357" name="Rounded Rectangle 356"/>
          <p:cNvSpPr/>
          <p:nvPr/>
        </p:nvSpPr>
        <p:spPr>
          <a:xfrm>
            <a:off x="9710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 lang="zh-TW">
                <a:solidFill>
                  <a:srgbClr val="C00000"/>
                </a:solidFill>
                <a:latin typeface="Calibri"/>
                <a:ea typeface="Microsoft JhengHei"/>
              </a:rPr>
              <a:t>Ctrl + 點擊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取 3D 座標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9710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PointStamped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/clicked_point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frame = world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修正後:布穿牆 87 → 18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878482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patch_scene.py 補進三項修正;靜置位移 0.00 mm;剩一個場景碰撞</a:t>
            </a:r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566928" y="2506878"/>
            <a:ext cx="3541776" cy="3252470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2506878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2506878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✅ 甩動時布穿牆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3153054"/>
            <a:ext cx="3541776" cy="2569718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加箱壁外、上蓋外 20 mm 墊片(只擋布)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0.08 m、3 Hz 甩動:87 → 18,結束時 0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4328160" y="2506878"/>
            <a:ext cx="3541776" cy="3252470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328160" y="2506878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4328160" y="2506878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✅ 蓋子慣量、箱重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328160" y="3153054"/>
            <a:ext cx="3541776" cy="2569718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慣量改由幾何算(原本 180 倍)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箱體 0.352 → 0.110 kg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阻尼依慣量取 0.6 倍臨界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089391" y="2506878"/>
            <a:ext cx="3541776" cy="3252470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089391" y="2506878"/>
            <a:ext cx="3541776" cy="5364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089391" y="2506878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⚠ 還在:側蓋碰夾爪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089391" y="3153054"/>
            <a:ext cx="3541776" cy="2569718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側蓋推過約 169° 會靠在閒置手臂夾爪上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170° → 停 145.7°(模型 130°)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接觸回報確認,不是摺痕問題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2471419"/>
            <a:ext cx="10515600" cy="37465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 3D 模型(包材、紙箱、杯子、雙臂場景)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本週:包材定為 volume;抓取改「摩擦 + 合指時綁定」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Status:代理夾爪 yn 100% / 62% 只是單次;重跑 3 次 0~44%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卡點:抓取不可重現;他片三方案 14 組皆未過;指頭插布 18 mm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volume 定案 → 夾布 = 摩擦 + 綁定 → 整包掀開 → 手臂 + 布 → 卡點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定案:越線疊合,thin 是反例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588361"/>
            <a:ext cx="5257800" cy="36295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26_tipover_vs_thi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588362"/>
            <a:ext cx="5257800" cy="1478756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3701359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121983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tip_over 40(第一個乾淨改善)/ 右 thin(反例:自穿模爆)(15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588361"/>
            <a:ext cx="5257800" cy="36295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28_tuck0_vs_tuck1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588362"/>
            <a:ext cx="5257800" cy="1478756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3701359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121983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tuck 0 角落翹耳 / 右 tuck 1 收耳後入箱(E 2e3,15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決定:包材用 volume,surface 當對照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判準:夾得住、掀得開;外觀正確;物理正確(少量穿模可)</a:t>
            </a:r>
          </a:p>
        </p:txBody>
      </p:sp>
      <p:graphicFrame>
        <p:nvGraphicFramePr>
          <p:cNvPr id="355" name="Table 354"/>
          <p:cNvGraphicFramePr>
            <a:graphicFrameLocks noGrp="1"/>
          </p:cNvGraphicFramePr>
          <p:nvPr/>
        </p:nvGraphicFramePr>
        <p:xfrm>
          <a:off x="566928" y="2194967"/>
          <a:ext cx="11064238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969"/>
                <a:gridCol w="3477332"/>
                <a:gridCol w="3793453"/>
                <a:gridCol w="1264484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軸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surface(零厚度膜)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volume(4 mm 板)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勝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夾得住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可,間隙只 1.5~2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可,間隙 2~5 mm,翻面 100%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穿模(自穿/穿杯/入箱)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97~156 / 0 / 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≤ 8 / 0 / 0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重現性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同參數差 6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關蓋前 ≤ 2 mm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外觀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包得密;開蓋後彈起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角落翹耳;開蓋後 93% 留箱內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各有缺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計算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2~3 分/段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4 分全程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surface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夾布建模查文獻:主流是綁定,不是純摩擦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3 輪搜尋、未逐篇細讀(LIT_grasp_20261014)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566928" y="2115312"/>
            <a:ext cx="2601468" cy="337108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66928" y="2115312"/>
            <a:ext cx="2601468" cy="841247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566928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SoftGym / FlingBot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566928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球形 picker,啟動時綁閾值內最近粒子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關閉即釋放;沒有真實夾爪幾何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3387852" y="2115312"/>
            <a:ext cx="2601468" cy="3371088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387852" y="2115312"/>
            <a:ext cx="2601468" cy="84124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3387852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NVIDIA forum 312694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3387852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deformable 純摩擦能夾起但撐不住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官方:摩擦不夠改 attachment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208776" y="2115312"/>
            <a:ext cx="2601468" cy="337108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208776" y="2115312"/>
            <a:ext cx="2601468" cy="841247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208776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Isaac Lab #4628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6208776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deformable 直接 attach 到 articulation 實質不支援(Sim 5.1)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改由 kinematic actuator 驅動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9029699" y="2115312"/>
            <a:ext cx="2601468" cy="337108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029699" y="2115312"/>
            <a:ext cx="2601468" cy="841247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9029699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 lang="zh-TW">
                <a:solidFill>
                  <a:srgbClr val="FFFFFF"/>
                </a:solidFill>
                <a:latin typeface="Calibri"/>
                <a:ea typeface="Microsoft JhengHei"/>
              </a:rPr>
              <a:t>查不到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9029699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疊層只抓單層的模擬做法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指面要蓋幾個頂點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surface vs volume 抓取比較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hybrid:摩擦接觸 + 合指時綁定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40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只綁最外層 yn,上下兩層都綁;邊長比 &gt; 2.3 自動放手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566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2" name="Rounded Rectangle 341"/>
          <p:cNvSpPr/>
          <p:nvPr/>
        </p:nvSpPr>
        <p:spPr>
          <a:xfrm>
            <a:off x="566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摩擦接觸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μ 0.8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2142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TextBox 343"/>
          <p:cNvSpPr txBox="1"/>
          <p:nvPr/>
        </p:nvSpPr>
        <p:spPr>
          <a:xfrm>
            <a:off x="566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指面照常碰撞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2471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6" name="Rounded Rectangle 345"/>
          <p:cNvSpPr/>
          <p:nvPr/>
        </p:nvSpPr>
        <p:spPr>
          <a:xfrm>
            <a:off x="2471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合指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間距 4.5 mm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4047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TextBox 347"/>
          <p:cNvSpPr txBox="1"/>
          <p:nvPr/>
        </p:nvSpPr>
        <p:spPr>
          <a:xfrm>
            <a:off x="2471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完成那一格才綁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4376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76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latin typeface="Calibri"/>
                <a:ea typeface="Microsoft JhengHei"/>
              </a:rPr>
              <a:t>挑點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pad 24 mm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5952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TextBox 351"/>
          <p:cNvSpPr txBox="1"/>
          <p:nvPr/>
        </p:nvSpPr>
        <p:spPr>
          <a:xfrm>
            <a:off x="4376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只挑 yn 最外層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上下兩層都綁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6281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4" name="Rounded Rectangle 353"/>
          <p:cNvSpPr/>
          <p:nvPr/>
        </p:nvSpPr>
        <p:spPr>
          <a:xfrm>
            <a:off x="6281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綁定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VtxXformAttachment</a:t>
            </a:r>
          </a:p>
        </p:txBody>
      </p:sp>
      <p:cxnSp>
        <p:nvCxnSpPr>
          <p:cNvPr id="355" name="Connector 354"/>
          <p:cNvCxnSpPr/>
          <p:nvPr/>
        </p:nvCxnSpPr>
        <p:spPr>
          <a:xfrm>
            <a:off x="7857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6" name="TextBox 355"/>
          <p:cNvSpPr txBox="1"/>
          <p:nvPr/>
        </p:nvSpPr>
        <p:spPr>
          <a:xfrm>
            <a:off x="6281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綁到指 / 代理方塊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8186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5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8186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弧線掀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--arc2 1</a:t>
            </a:r>
          </a:p>
        </p:txBody>
      </p:sp>
      <p:cxnSp>
        <p:nvCxnSpPr>
          <p:cNvPr id="359" name="Connector 358"/>
          <p:cNvCxnSpPr/>
          <p:nvPr/>
        </p:nvCxnSpPr>
        <p:spPr>
          <a:xfrm>
            <a:off x="9762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8186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繞過箱壁頂角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10091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6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091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放手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守衛 2.3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10091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邊長比超標自動放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單片探針:摩擦夾持 vs 綁定夾持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61439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綁定 both:滑動 ≤ 0.14 mm、邊長比 1.67~1.81;top-only 滑 0.2~0.7 mm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G2a 疊層翻 180°:無重物 100% / 98%,釋放後 100%</a:t>
            </a:r>
            <a:endParaRPr/>
          </a:p>
        </p:txBody>
      </p:sp>
      <p:pic>
        <p:nvPicPr>
          <p:cNvPr id="347" name="25_probe_fric_vs_attac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6073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3533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7740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G1 單片夾懸出邊:左 純摩擦 / 右 綁定(pad 16、both、間隙 4)(11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整包掀開的四次嘗試:每次只改一件事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365247"/>
          <a:ext cx="11064237" cy="2663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409"/>
                <a:gridCol w="4425696"/>
                <a:gridCol w="1702190"/>
                <a:gridCol w="1531971"/>
                <a:gridCol w="1531971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改動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yn 綁點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越線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out_g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純摩擦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夾到 3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23%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1%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out_ga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綁定,抓角尖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out_ga2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抓自由邊中段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71%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1%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00000"/>
                          </a:solidFill>
                          <a:latin typeface="Calibri"/>
                        </a:rPr>
                        <a:t>out_ga3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latin typeface="Calibri"/>
                          <a:ea typeface="Microsoft JhengHei"/>
                        </a:rPr>
                        <a:t>+ 弧線翻到箱外(--arc2 1)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100%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62%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失敗一:摩擦只夾 3 點、角尖只綁 1 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788439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結論:要抓 yn 自由邊中段(邊參數 0.3~0.6),不抓角尖</a:t>
            </a:r>
            <a:endParaRPr/>
          </a:p>
        </p:txBody>
      </p:sp>
      <p:pic>
        <p:nvPicPr>
          <p:cNvPr id="347" name="20_friction_vs_corn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4168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16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5835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純摩擦(夾到 3 點,越線 23%)/ 右 綁定抓角尖(綁 1 點,越線 5%)(15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失敗二:停在箱內放手 → 整片彈回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788439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弧線終點要繞過箱壁頂角翻到箱外(--arc2 1),靠箱壁撐住</a:t>
            </a:r>
            <a:endParaRPr/>
          </a:p>
        </p:txBody>
      </p:sp>
      <p:pic>
        <p:nvPicPr>
          <p:cNvPr id="347" name="21_inbox_vs_arc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4168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16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5835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out_ga2 箱內放手(放手後 1%)/ 右 out_ga3 繞過箱壁翻出(放手後 62%)(15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out_ga3:yn 越線 100%、放手後 62%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34438"/>
            <a:ext cx="5257800" cy="4083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代理夾爪(kinematic 方塊),不是手臂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綁 12 點、滑動最大 0.2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杯位移 2.9 mm、穿杯 0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夾前覆蓋只 48%:yn 已半開</a:t>
            </a:r>
            <a:endParaRPr/>
          </a:p>
        </p:txBody>
      </p:sp>
      <p:sp>
        <p:nvSpPr>
          <p:cNvPr id="347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單次樣本;同指令重跑 3 次 yn 越線 0~44%、放手後 0~16%,不可重現</a:t>
            </a:r>
          </a:p>
        </p:txBody>
      </p:sp>
      <p:pic>
        <p:nvPicPr>
          <p:cNvPr id="348" name="13_vol_grasp_y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34438"/>
            <a:ext cx="5257800" cy="2957512"/>
          </a:xfrm>
          <a:prstGeom prst="rect">
            <a:avLst/>
          </a:prstGeom>
        </p:spPr>
      </p:pic>
      <p:sp>
        <p:nvSpPr>
          <p:cNvPr id="349" name="Rounded Rectangle 348"/>
          <p:cNvSpPr/>
          <p:nvPr/>
        </p:nvSpPr>
        <p:spPr>
          <a:xfrm>
            <a:off x="6464807" y="4726191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6373368" y="5146815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out_ga3 t 52~67 s:合指 → 綁 12 點 → 翻出 → 放手(15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8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沒過:他片被拖 20%、yp 只 73%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他片 &gt;10 mm:20.0%(判準 &lt; 5%)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xp 138、xn 202 點,最大 103.5 mm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yp:綁 8 點,越線 73%、放手後 67%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他片 23.2%;實測彎折只 40%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註:out_ga3 為單次樣本,重跑不可重現</a:t>
            </a:r>
            <a:endParaRPr/>
          </a:p>
        </p:txBody>
      </p:sp>
      <p:pic>
        <p:nvPicPr>
          <p:cNvPr id="347" name="14_vol_grasp_y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out_ga3 yp 片:綁 8 點,越線 73% / 放手後 67%(14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基準分布:out_ga3 重跑 3 次不可重現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47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夾前狀態每次不同(杯頂覆蓋 48~91%),綁點 0~22</a:t>
            </a:r>
          </a:p>
        </p:txBody>
      </p:sp>
      <p:graphicFrame>
        <p:nvGraphicFramePr>
          <p:cNvPr id="348" name="Table 347"/>
          <p:cNvGraphicFramePr>
            <a:graphicFrameLocks noGrp="1"/>
          </p:cNvGraphicFramePr>
          <p:nvPr/>
        </p:nvGraphicFramePr>
        <p:xfrm>
          <a:off x="566928" y="2120188"/>
          <a:ext cx="11064240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1521333"/>
                <a:gridCol w="1244727"/>
                <a:gridCol w="2766060"/>
                <a:gridCol w="2766060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組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夾前覆蓋 yn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yn 綁點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yn 越線 / 放手後 / 他片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yp 越線 / 放手後 / 他片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out_ga3(第一輪)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48%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100 / 62 / 20.0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73 / 67 / 23.2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base_r1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79%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44 / 16 / 4.9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46 / 1 / 6.7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base_r2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83%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0 / 0 / 1.9(沒綁到)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37 / 11 / 24.1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base_r3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91%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42 / 1 / 18.8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30 / 0 / 43.6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B2_p8(釘 0 點 = 基準)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88%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100 / 100 / 20.8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42 / 0 / 17.9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  <p:sp>
        <p:nvSpPr>
          <p:cNvPr id="349" name="TextBox 348"/>
          <p:cNvSpPr txBox="1"/>
          <p:nvPr/>
        </p:nvSpPr>
        <p:spPr>
          <a:xfrm>
            <a:off x="566928" y="5223052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單位 %;vol/DRAG.md 第二輪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抓取魯棒性:綁點穩了,掀開還沒穩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47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--grasp_site state + --grasp_retry:失敗點從抓不到變成掀不起來</a:t>
            </a:r>
          </a:p>
        </p:txBody>
      </p:sp>
      <p:graphicFrame>
        <p:nvGraphicFramePr>
          <p:cNvPr id="348" name="Table 347"/>
          <p:cNvGraphicFramePr>
            <a:graphicFrameLocks noGrp="1"/>
          </p:cNvGraphicFramePr>
          <p:nvPr/>
        </p:nvGraphicFramePr>
        <p:xfrm>
          <a:off x="566928" y="2094788"/>
          <a:ext cx="11064240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936242"/>
                <a:gridCol w="1659636"/>
                <a:gridCol w="1383030"/>
                <a:gridCol w="2212848"/>
                <a:gridCol w="1244727"/>
                <a:gridCol w="1244727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組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選點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綁點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夾前覆蓋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yn 越線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他片 %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r3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v13 (x −64)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74%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11%(守衛放手)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19.6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r4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v17 (x −7)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86%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79%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75%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76.5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r5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v17 (x −7)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53%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54%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49%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13.7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r6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v22 (x 64)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31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77%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82%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24.4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r7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v22 (x 64)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71%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100%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7.3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v2 平均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23 [14~31]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72%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65%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35%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28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349" name="TextBox 348"/>
          <p:cNvSpPr txBox="1"/>
          <p:nvPr/>
        </p:nvSpPr>
        <p:spPr>
          <a:xfrm>
            <a:off x="566928" y="5261152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基準 4 次:綁點 0~22、越線平均 47%;vol/ROBUST.md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 + 布同一模擬:載入雙臂場景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arm/cloth/load_cloth.py 把 volume 包裹載入雙臂場景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手臂場景 peel 參數:E 2e4、μ 0.8、solver 128、dt 1/240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手臂是 6 軸 follower,不是 FR3</a:t>
            </a:r>
            <a:endParaRPr/>
          </a:p>
        </p:txBody>
      </p:sp>
      <p:pic>
        <p:nvPicPr>
          <p:cNvPr id="347" name="15_arm_load_clot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dry_with_cloth:布載入雙臂場景後乾跑(11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不能綁 gripper → 綁代理方塊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630762"/>
            <a:ext cx="5257800" cy="45871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Isaac Lab #4628:不能直接綁 follower_*_gripper_*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RemovePrim 在手臂場景程序無訊息結束 → 改 attachmentEnabled=False</a:t>
            </a:r>
            <a:endParaRPr/>
          </a:p>
        </p:txBody>
      </p:sp>
      <p:cxnSp>
        <p:nvCxnSpPr>
          <p:cNvPr id="340" name="diagram:edge:e1"/>
          <p:cNvCxnSpPr>
            <a:stCxn id="345" idx="2"/>
            <a:endCxn id="346" idx="0"/>
          </p:cNvCxnSpPr>
          <p:nvPr/>
        </p:nvCxnSpPr>
        <p:spPr>
          <a:xfrm>
            <a:off x="9002268" y="2116199"/>
            <a:ext cx="0" cy="381415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diagram:edge:e2"/>
          <p:cNvCxnSpPr>
            <a:stCxn id="346" idx="2"/>
            <a:endCxn id="347" idx="0"/>
          </p:cNvCxnSpPr>
          <p:nvPr/>
        </p:nvCxnSpPr>
        <p:spPr>
          <a:xfrm>
            <a:off x="9002268" y="2983050"/>
            <a:ext cx="0" cy="381415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diagram:label:e2"/>
          <p:cNvSpPr txBox="1"/>
          <p:nvPr/>
        </p:nvSpPr>
        <p:spPr>
          <a:xfrm>
            <a:off x="8563356" y="3027454"/>
            <a:ext cx="877824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0" rIns="0" tIns="12700" bIns="12700">
            <a:spAutoFit/>
          </a:bodyPr>
          <a:lstStyle/>
          <a:p>
            <a:pPr algn="ctr"/>
            <a:r>
              <a:rPr sz="1050" b="1" i="0" lang="zh-TW">
                <a:solidFill>
                  <a:srgbClr val="1A1A1A"/>
                </a:solidFill>
                <a:latin typeface="Calibri"/>
                <a:ea typeface="Microsoft JhengHei"/>
              </a:rPr>
              <a:t>每格跟隨</a:t>
            </a:r>
          </a:p>
        </p:txBody>
      </p:sp>
      <p:cxnSp>
        <p:nvCxnSpPr>
          <p:cNvPr id="343" name="diagram:edge:e3"/>
          <p:cNvCxnSpPr>
            <a:stCxn id="347" idx="2"/>
            <a:endCxn id="348" idx="0"/>
          </p:cNvCxnSpPr>
          <p:nvPr/>
        </p:nvCxnSpPr>
        <p:spPr>
          <a:xfrm>
            <a:off x="9002268" y="3849901"/>
            <a:ext cx="0" cy="381415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diagram:edge:e4"/>
          <p:cNvCxnSpPr>
            <a:stCxn id="348" idx="2"/>
            <a:endCxn id="349" idx="0"/>
          </p:cNvCxnSpPr>
          <p:nvPr/>
        </p:nvCxnSpPr>
        <p:spPr>
          <a:xfrm>
            <a:off x="9002268" y="4716752"/>
            <a:ext cx="0" cy="381416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diagram:node:ik"/>
          <p:cNvSpPr/>
          <p:nvPr/>
        </p:nvSpPr>
        <p:spPr>
          <a:xfrm>
            <a:off x="7904988" y="1630763"/>
            <a:ext cx="2194560" cy="485436"/>
          </a:xfrm>
          <a:prstGeom prst="rect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Lula IK</a:t>
            </a:r>
          </a:p>
        </p:txBody>
      </p:sp>
      <p:sp>
        <p:nvSpPr>
          <p:cNvPr id="346" name="diagram:node:tcp"/>
          <p:cNvSpPr/>
          <p:nvPr/>
        </p:nvSpPr>
        <p:spPr>
          <a:xfrm>
            <a:off x="7904988" y="2497614"/>
            <a:ext cx="2194560" cy="485436"/>
          </a:xfrm>
          <a:prstGeom prst="rect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TCP</a:t>
            </a:r>
          </a:p>
        </p:txBody>
      </p:sp>
      <p:sp>
        <p:nvSpPr>
          <p:cNvPr id="347" name="diagram:node:px"/>
          <p:cNvSpPr/>
          <p:nvPr/>
        </p:nvSpPr>
        <p:spPr>
          <a:xfrm>
            <a:off x="7904988" y="3364465"/>
            <a:ext cx="2194560" cy="485436"/>
          </a:xfrm>
          <a:prstGeom prst="rect">
            <a:avLst/>
          </a:prstGeom>
          <a:solidFill>
            <a:srgbClr val="FDEEEE"/>
          </a:solidFill>
          <a:ln w="25400">
            <a:solidFill>
              <a:srgbClr val="C00000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1" lang="zh-TW">
                <a:solidFill>
                  <a:srgbClr val="1A1A1A"/>
                </a:solidFill>
                <a:latin typeface="Calibri"/>
                <a:ea typeface="Microsoft JhengHei"/>
              </a:rPr>
              <a:t>代理方塊</a:t>
            </a:r>
          </a:p>
        </p:txBody>
      </p:sp>
      <p:sp>
        <p:nvSpPr>
          <p:cNvPr id="348" name="diagram:node:att"/>
          <p:cNvSpPr/>
          <p:nvPr/>
        </p:nvSpPr>
        <p:spPr>
          <a:xfrm>
            <a:off x="7904988" y="4231316"/>
            <a:ext cx="2194560" cy="485436"/>
          </a:xfrm>
          <a:prstGeom prst="rect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Attachment</a:t>
            </a:r>
          </a:p>
        </p:txBody>
      </p:sp>
      <p:sp>
        <p:nvSpPr>
          <p:cNvPr id="349" name="diagram:node:cl"/>
          <p:cNvSpPr/>
          <p:nvPr/>
        </p:nvSpPr>
        <p:spPr>
          <a:xfrm>
            <a:off x="7904988" y="5098168"/>
            <a:ext cx="2194560" cy="485436"/>
          </a:xfrm>
          <a:prstGeom prst="flowChartTerminator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 lang="zh-TW">
                <a:solidFill>
                  <a:srgbClr val="1A1A1A"/>
                </a:solidFill>
                <a:latin typeface="Calibri"/>
                <a:ea typeface="Microsoft JhengHei"/>
              </a:rPr>
              <a:t>布 yn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6373368" y="5820032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放手:attachmentEnabled = False(RemovePrim 會讓程序無訊息結束)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 r1:夾持軸平行布邊 → 綁 0 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指間沒有布:足跡內 68 點,|n| 全在 −139.8 ~ −6.2 mm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下降穿入 8.66 mm;yn 越線 1.4%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教訓:夾持軸必須垂直布面</a:t>
            </a:r>
            <a:endParaRPr/>
          </a:p>
        </p:txBody>
      </p:sp>
      <p:pic>
        <p:nvPicPr>
          <p:cNvPr id="347" name="22_arm_r1_bind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r1:足跡內 68 點,指間中面帶內 0 點(15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r2:放寬高度帶,掀 56~60%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釋放前 yn 越線 名義 59.8% / 實測 55.9%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他片 29%;下降穿入 6.9 mm;滑動 max 1.28 mm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放手後越線:未量到</a:t>
            </a:r>
            <a:endParaRPr/>
          </a:p>
        </p:txBody>
      </p:sp>
      <p:pic>
        <p:nvPicPr>
          <p:cNvPr id="347" name="16_arm_peel_r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0:12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r2:v2 軌跡,高度帶放寬 14 mm(12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 r3:數值 Jacobian 修正 → 發散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用數值 Jacobian 修 72 mm 平移,發散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名義 4.2% → 6.7%;自穿 122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教訓:改用 Lula IK 重解整條軌跡</a:t>
            </a:r>
            <a:endParaRPr/>
          </a:p>
        </p:txBody>
      </p:sp>
      <p:pic>
        <p:nvPicPr>
          <p:cNvPr id="347" name="23_arm_r3_i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r3:手臂亂走,yn 越線最後 6.7%(15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v3:Lula IK 重解,夾持軸垂直布面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2363012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可達性掃描 210 組 φ×ψ×偏移,參數 u 沿自由邊</a:t>
            </a: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566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566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鉸點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yn 實測折線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2142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/>
          <p:cNvSpPr txBox="1"/>
          <p:nvPr/>
        </p:nvSpPr>
        <p:spPr>
          <a:xfrm>
            <a:off x="566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箱底 y −71.4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2471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471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垂直下降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自由邊外 8~24 mm</a:t>
            </a:r>
          </a:p>
        </p:txBody>
      </p:sp>
      <p:cxnSp>
        <p:nvCxnSpPr>
          <p:cNvPr id="346" name="Connector 345"/>
          <p:cNvCxnSpPr/>
          <p:nvPr/>
        </p:nvCxnSpPr>
        <p:spPr>
          <a:xfrm>
            <a:off x="4047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TextBox 346"/>
          <p:cNvSpPr txBox="1"/>
          <p:nvPr/>
        </p:nvSpPr>
        <p:spPr>
          <a:xfrm>
            <a:off x="2471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自由邊外 8~24 mm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4376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3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4376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latin typeface="Calibri"/>
                <a:ea typeface="Microsoft JhengHei"/>
              </a:rPr>
              <a:t>水平滑入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8 mm 到布中面</a:t>
            </a:r>
          </a:p>
        </p:txBody>
      </p:sp>
      <p:cxnSp>
        <p:nvCxnSpPr>
          <p:cNvPr id="350" name="Connector 349"/>
          <p:cNvCxnSpPr/>
          <p:nvPr/>
        </p:nvCxnSpPr>
        <p:spPr>
          <a:xfrm>
            <a:off x="5952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TextBox 350"/>
          <p:cNvSpPr txBox="1"/>
          <p:nvPr/>
        </p:nvSpPr>
        <p:spPr>
          <a:xfrm>
            <a:off x="4376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8 mm 到布中面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6281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6281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合指 + 綁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pad 24</a:t>
            </a:r>
          </a:p>
        </p:txBody>
      </p:sp>
      <p:cxnSp>
        <p:nvCxnSpPr>
          <p:cNvPr id="354" name="Connector 353"/>
          <p:cNvCxnSpPr/>
          <p:nvPr/>
        </p:nvCxnSpPr>
        <p:spPr>
          <a:xfrm>
            <a:off x="7857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6281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pad 24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8186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5</a:t>
            </a:r>
          </a:p>
        </p:txBody>
      </p:sp>
      <p:sp>
        <p:nvSpPr>
          <p:cNvPr id="357" name="Rounded Rectangle 356"/>
          <p:cNvSpPr/>
          <p:nvPr/>
        </p:nvSpPr>
        <p:spPr>
          <a:xfrm>
            <a:off x="8186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弧線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R 143 掃到 100°</a:t>
            </a:r>
          </a:p>
        </p:txBody>
      </p:sp>
      <p:cxnSp>
        <p:nvCxnSpPr>
          <p:cNvPr id="358" name="Connector 357"/>
          <p:cNvCxnSpPr/>
          <p:nvPr/>
        </p:nvCxnSpPr>
        <p:spPr>
          <a:xfrm>
            <a:off x="9762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9" name="TextBox 358"/>
          <p:cNvSpPr txBox="1"/>
          <p:nvPr/>
        </p:nvSpPr>
        <p:spPr>
          <a:xfrm>
            <a:off x="8186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R 143 掃到 100°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10091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6</a:t>
            </a:r>
          </a:p>
        </p:txBody>
      </p:sp>
      <p:sp>
        <p:nvSpPr>
          <p:cNvPr id="361" name="Rounded Rectangle 360"/>
          <p:cNvSpPr/>
          <p:nvPr/>
        </p:nvSpPr>
        <p:spPr>
          <a:xfrm>
            <a:off x="10091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翻出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牆外 20 / 牆頂 +40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10091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牆外 20 / 牆頂 +40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u0.45 綁 1 點;u0.60 綁 18~24 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281037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u0.45:越線 26%、放手後 2%、他片 79%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u0.60:放手後 56~66%,他片 16~52%(兩次差很大)</a:t>
            </a:r>
            <a:endParaRPr/>
          </a:p>
        </p:txBody>
      </p:sp>
      <p:pic>
        <p:nvPicPr>
          <p:cNvPr id="347" name="24_u45_vs_u6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3226933"/>
            <a:ext cx="11064240" cy="1562823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442399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484462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u0.45:指頭把布壓下去,綁 1 點,越線 26% / 右 u0.60:越線 64~68%(15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手臂線五次跑:最好 u0.60,仍未全過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162048"/>
          <a:ext cx="11064240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1844040"/>
                <a:gridCol w="1844040"/>
                <a:gridCol w="2011680"/>
                <a:gridCol w="2011680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yn 越線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他片拖動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下降穿入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out_ga3(代理,單次)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100%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62%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20% 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–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r2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56~60%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未量到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29%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6.9 mm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v3 u0.45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26%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79% 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綁 1 點 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00000"/>
                          </a:solidFill>
                          <a:latin typeface="Calibri"/>
                        </a:rPr>
                        <a:t>v3 u0.60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64~68%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56~66% ✓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16~52% ✗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18 mm ✗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v3 yp u0.40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21%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22%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52% 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綁 5 點 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卡點一:指頭盒插進皺布 18 mm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210 組姿態沒有一組不插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66928" y="2659075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566928" y="2659075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66928" y="2741371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60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指頭盒高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盒 36×70×60 mm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4358640" y="2659075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358640" y="2659075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4358640" y="2741371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18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下降穿入</a:t>
            </a:r>
          </a:p>
          <a:p>
            <a:pPr algn="ctr">
              <a:spcBef>
                <a:spcPts val="400"/>
              </a:spcBef>
            </a:pPr>
            <a:r>
              <a:rPr sz="1500" b="0" i="0">
                <a:solidFill>
                  <a:srgbClr val="595959"/>
                </a:solidFill>
                <a:latin typeface="Calibri"/>
              </a:rPr>
              <a:t>v3 u0.60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8150352" y="2659075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8150352" y="2659075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150352" y="2741371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5900" b="1" i="0">
                <a:solidFill>
                  <a:srgbClr val="3E5F27"/>
                </a:solidFill>
                <a:latin typeface="Calibri"/>
              </a:rPr>
              <a:t>0 / 210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不插布的姿態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φ×ψ×偏移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卡點二:他片三方案 14 組皆未過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根本問題:抓取本身不可重現,±16 點內分不出效果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66928" y="2240280"/>
            <a:ext cx="3541776" cy="30586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566928" y="2240280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66928" y="2240280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有限剛度 / 力限代理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566928" y="2886456"/>
            <a:ext cx="3541776" cy="23759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PhysX 107.3 忽略 attachment stiffness(k 0.01 伸長仍 0)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力限代理:越線、放手後掉,無效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4328160" y="2240280"/>
            <a:ext cx="3541776" cy="3058668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4328160" y="2240280"/>
            <a:ext cx="3541776" cy="5364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4328160" y="2240280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釘住 xp/xn(第二隻手)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4328160" y="2886456"/>
            <a:ext cx="3541776" cy="23759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釘 24 點:釘住期間他片 5.2%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放開釘點回到 16.3%;yn 只掀 44%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釘 167 點更差:38%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8089391" y="2240280"/>
            <a:ext cx="3541776" cy="30586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8089391" y="2240280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8089391" y="2240280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先解耦再掀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8089391" y="2886456"/>
            <a:ext cx="3541776" cy="23759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弧線外延 30 mm 觸發守衛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滑動 83 mm,本體沒測到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卡點三:手臂掀開 64%,未到 80%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2162048"/>
          <a:ext cx="11064237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9187"/>
                <a:gridCol w="1789364"/>
                <a:gridCol w="4175184"/>
                <a:gridCol w="3280502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判準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目標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代理 out_ga3(單次)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手臂 v3 u0.60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yn 越線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≥ 80%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100% ✓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64~68% ✗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≥ 50%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62% ✓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56~66% ✓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滑動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&lt;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0.2 mm ✓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他片拖動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&lt; 5%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20%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16~52%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穿杯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 ✓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 ✓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折法多樣性:24 折序全部能入箱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24 折序:物理 20/24、嚴格 9/24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嚴格失敗主因:邊長比 &gt; 1.65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最外層 22/24 = 最後折的片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隨機 12 組:tuck 0 的 8 組全超出 → 固定 tuck 1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旗標 --fold_order --mug_off_mm --mug_yaw_deg --seed</a:t>
            </a:r>
            <a:endParaRPr/>
          </a:p>
        </p:txBody>
      </p:sp>
      <p:pic>
        <p:nvPicPr>
          <p:cNvPr id="347" name="29_variants_gri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0:06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VARIANTS_grid:不同折序 / 杯偏 / 杯轉的包裹(6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顫抖:volume 布一直抖,根因三個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61439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根因:阻尼 0 + 自碰撞層間互推 + E 2e3 太軟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edamp 0.02:停留顫抖 RMS 0.358 → 0.213 mm/格(−40%),自穿 0</a:t>
            </a:r>
            <a:endParaRPr/>
          </a:p>
        </p:txBody>
      </p:sp>
      <p:pic>
        <p:nvPicPr>
          <p:cNvPr id="347" name="18_damp_compar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6073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3533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7740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四折段:左 edamp 0(抓取鏈)/ 右 edamp 0.02(15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阻尼:展示用 0.02,抓取維持 0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061870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4764"/>
                <a:gridCol w="1885950"/>
                <a:gridCol w="1885950"/>
                <a:gridCol w="2200275"/>
                <a:gridCol w="1257300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組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停留 RMS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自穿 max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邊長比 max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折到位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base(0/0)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0.358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1.72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0000"/>
                          </a:solidFill>
                          <a:latin typeface="Calibri"/>
                        </a:rPr>
                        <a:t>edamp 0.02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0.213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1.83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edamp 0.05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0.162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2.19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局部拉扯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edamp 0.2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0.265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3.44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勉強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edamp 0.5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0.330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4.90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ldamp 5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0.332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2.03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  <p:sp>
        <p:nvSpPr>
          <p:cNvPr id="348" name="TextBox 347"/>
          <p:cNvSpPr txBox="1"/>
          <p:nvPr/>
        </p:nvSpPr>
        <p:spPr>
          <a:xfrm>
            <a:off x="566928" y="5228233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停留 RMS:每格頂點位移 mm/格(1/30 s);DAMPING.md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速度:渲染只佔 8%,物理放寬傷掀開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061870"/>
          <a:ext cx="11064238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7271"/>
                <a:gridCol w="2286787"/>
                <a:gridCol w="2667918"/>
                <a:gridCol w="762262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設定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折疊段 wall/sim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整鏈 yn 越線 / 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基準(dt 1/240、solver 128)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7.04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100% / 62%(單次)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0000"/>
                          </a:solidFill>
                          <a:latin typeface="Calibri"/>
                        </a:rPr>
                        <a:t>--vid_every 4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6.52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未量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安全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--vid_res 640x360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6.94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未量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幾乎沒差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dt 1/120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4.37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100% / 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傷品質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solver 64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4.93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40% / 0%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傷品質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dt 1/120 + solver 64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3.36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59% / 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傷品質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  <p:sp>
        <p:nvSpPr>
          <p:cNvPr id="348" name="TextBox 347"/>
          <p:cNvSpPr txBox="1"/>
          <p:nvPr/>
        </p:nvSpPr>
        <p:spPr>
          <a:xfrm>
            <a:off x="566928" y="5228233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渲染只佔 ~8% wall;--fast_pts 拿不到 volume 節點;vol/SPEED.md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失敗:dt 1/120 放手後全彈回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綁 14 點,越線 100%,放手後 0%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他片 52.3%(基準 20.0%)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三組物理放寬:放手後全掉到 0~13%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速度改動要整鏈驗</a:t>
            </a:r>
            <a:endParaRPr/>
          </a:p>
        </p:txBody>
      </p:sp>
      <p:pic>
        <p:nvPicPr>
          <p:cNvPr id="347" name="19_dt120_releas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a_dt120 yn 段:越線 100% → 放手後 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工程:clone 即跑、測試集、demo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566928" y="2085441"/>
            <a:ext cx="3541776" cy="33634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2085441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2085441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731617"/>
            <a:ext cx="3541776" cy="26807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wyattsheu/sim-forge</a:t>
            </a:r>
          </a:p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sims/fr3_bubblewrap_pack_20261007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USD、手臂 URDF、軌跡都進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4328160" y="2085441"/>
            <a:ext cx="3541776" cy="3363468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328160" y="2085441"/>
            <a:ext cx="3541776" cy="5364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4328160" y="2085441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測試集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328160" y="2731617"/>
            <a:ext cx="3541776" cy="26807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run_checks.py:10 個 check 函式、23 個檢查項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RUNS.csv 122 列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089391" y="2085441"/>
            <a:ext cx="3541776" cy="33634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089391" y="2085441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089391" y="2085441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089391" y="2731617"/>
            <a:ext cx="3541776" cy="26807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work/videos/demo/DEMO_1~5 + DEMO_ALL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make_demo_videos.sh 一鍵產生</a:t>
            </a:r>
          </a:p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DEMO_ALL 263.8 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最終方案:volume 正式版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2061870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5018"/>
                <a:gridCol w="3428356"/>
                <a:gridCol w="3428356"/>
                <a:gridCol w="1402509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需求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surface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勝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外觀:厚度、圓角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假厚,層間距靠自碰撞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真厚 4 mm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入箱 / 搬箱 / 開蓋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✓,互穿 ≤ 8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平手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夾得住(綁定)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綁 9~11 點,掀 73~78%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綁 12 點,掀 100%(單次)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掀一片不扯整張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整張被拖 99%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他片 20%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速度(整鏈)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約 5 分鐘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10.7 分鐘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surface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塑性留形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無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無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都沒有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  <p:sp>
        <p:nvSpPr>
          <p:cNvPr id="355" name="TextBox 354"/>
          <p:cNvSpPr txBox="1"/>
          <p:nvPr/>
        </p:nvSpPr>
        <p:spPr>
          <a:xfrm>
            <a:off x="566928" y="5228233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正式版旗標 FINAL_PLAN §2:E 2e3、4 mm、solver 128、dt 1/240、阻尼 0、tuck 1、grasp_attach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806449"/>
          <a:ext cx="11064239" cy="4060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8293"/>
                <a:gridCol w="3688080"/>
                <a:gridCol w="4097866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掀開不可重現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四折後狀態每次不同、GPU 非決定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🔄 先查掀的軌跡、守衛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純摩擦夾不住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網格粗 + 無塑性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摩擦 + 合指綁定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綁 0 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抓點被壓 / 無支撐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grasp_site state:綁點 14~31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他片拖動 20~50%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綁定無限剛度;stiffness 被忽略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❌ 14 組未過;第二隻手要壓到放手後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指頭插布 18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指頭盒 36×70×60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🛠️ 換細指頭模型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gripper 不能綁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Isaac Lab #4628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kinematic 代理方塊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布顫抖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阻尼 0 + 自碰撞 + 軟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展示用 edamp 0.02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材料無塑性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PhysX deformable 無塑性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❌ 仍無解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掀開可重現:查掀的軌跡(弧線半徑、材料長度)與守衛,每組 ≥ 3 次看分布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他片:第二隻手壓 xp/xn 要壓到 yn 翻出並放手之後才放;釘點少(≈ 24)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指頭盒 36×70×60 換細指頭模型,重掃可達性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目標:yn 越線 ≥ 80% 穩定(≥ 3 次)、他片 &lt; 5%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正式版旗標固定(FINAL_PLAN §2);折法多樣性 tuck 1 抽樣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材料塑性仍無解;持續更新 RUNS.csv、測試集、sim-forge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下一步:先讓掀開可重現 → 再壓他片 → 細指頭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