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900" r:id="rId29"/>
    <p:sldId id="901" r:id="rId30"/>
    <p:sldId id="902" r:id="rId31"/>
    <p:sldId id="903" r:id="rId32"/>
    <p:sldId id="904" r:id="rId33"/>
    <p:sldId id="905" r:id="rId34"/>
    <p:sldId id="906" r:id="rId35"/>
    <p:sldId id="907" r:id="rId36"/>
    <p:sldId id="908" r:id="rId37"/>
    <p:sldId id="909" r:id="rId38"/>
    <p:sldId id="910" r:id="rId39"/>
    <p:sldId id="911" r:id="rId40"/>
    <p:sldId id="912" r:id="rId41"/>
    <p:sldId id="913" r:id="rId42"/>
    <p:sldId id="914" r:id="rId43"/>
    <p:sldId id="915" r:id="rId44"/>
    <p:sldId id="916" r:id="rId45"/>
    <p:sldId id="917" r:id="rId46"/>
    <p:sldId id="918" r:id="rId47"/>
    <p:sldId id="919" r:id="rId48"/>
    <p:sldId id="920" r:id="rId49"/>
    <p:sldId id="921" r:id="rId50"/>
    <p:sldId id="922" r:id="rId51"/>
    <p:sldId id="923" r:id="rId52"/>
    <p:sldId id="924" r:id="rId53"/>
    <p:sldId id="925" r:id="rId54"/>
    <p:sldId id="926" r:id="rId55"/>
    <p:sldId id="927" r:id="rId56"/>
    <p:sldId id="928" r:id="rId57"/>
    <p:sldId id="929" r:id="rId58"/>
    <p:sldId id="930" r:id="rId59"/>
    <p:sldId id="931" r:id="rId60"/>
    <p:sldId id="932" r:id="rId61"/>
    <p:sldId id="933" r:id="rId62"/>
    <p:sldId id="934" r:id="rId63"/>
    <p:sldId id="935" r:id="rId64"/>
    <p:sldId id="936" r:id="rId65"/>
    <p:sldId id="937" r:id="rId66"/>
    <p:sldId id="938" r:id="rId67"/>
    <p:sldId id="939" r:id="rId68"/>
    <p:sldId id="940" r:id="rId69"/>
    <p:sldId id="941" r:id="rId70"/>
    <p:sldId id="942" r:id="rId71"/>
    <p:sldId id="943" r:id="rId72"/>
    <p:sldId id="944" r:id="rId73"/>
    <p:sldId id="945" r:id="rId74"/>
    <p:sldId id="946" r:id="rId75"/>
    <p:sldId id="947" r:id="rId7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52GDqHO9yPwcgh1+9sx02Tk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020E9-609E-4017-BB34-8560C302F62E}">
  <a:tblStyle styleId="{6F5020E9-609E-4017-BB34-8560C302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2" Type="http://schemas.openxmlformats.org/officeDocument/2006/relationships/slide" Target="slides/slide34.xml"/><Relationship Id="rId63" Type="http://schemas.openxmlformats.org/officeDocument/2006/relationships/slide" Target="slides/slide35.xml"/><Relationship Id="rId64" Type="http://schemas.openxmlformats.org/officeDocument/2006/relationships/slide" Target="slides/slide36.xml"/><Relationship Id="rId65" Type="http://schemas.openxmlformats.org/officeDocument/2006/relationships/slide" Target="slides/slide37.xml"/><Relationship Id="rId66" Type="http://schemas.openxmlformats.org/officeDocument/2006/relationships/slide" Target="slides/slide38.xml"/><Relationship Id="rId67" Type="http://schemas.openxmlformats.org/officeDocument/2006/relationships/slide" Target="slides/slide39.xml"/><Relationship Id="rId68" Type="http://schemas.openxmlformats.org/officeDocument/2006/relationships/slide" Target="slides/slide40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3.xml"/><Relationship Id="rId72" Type="http://schemas.openxmlformats.org/officeDocument/2006/relationships/slide" Target="slides/slide44.xml"/><Relationship Id="rId73" Type="http://schemas.openxmlformats.org/officeDocument/2006/relationships/slide" Target="slides/slide45.xml"/><Relationship Id="rId74" Type="http://schemas.openxmlformats.org/officeDocument/2006/relationships/slide" Target="slides/slide46.xml"/><Relationship Id="rId75" Type="http://schemas.openxmlformats.org/officeDocument/2006/relationships/slide" Target="slides/slide47.xml"/><Relationship Id="rId76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先講結論:逆物流情境的 3D 模型已經建完,交付在 sim-forge 的 fr3_bubblewrap_pack_handoff_20261007。整個場景是一個 USD 檔 scene_final_phys.usd,裡面有雙臂工作站、紙箱、泡泡紙包裹和馬克杯,每個物件都有物理,不是只有外觀。左邊是場景全貌,紙箱放在兩隻手臂中間。右邊四張依序是關著的紙箱、蓋子推開後、把紙箱藏起來看包裹、再把包材藏起來看杯子;杯子在包裹裡是側躺的,這是模擬包裝的結果。接下來幾張逐一說明每個物件怎麼建、參數從哪裡來、驗證到什麼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這張是整個模型的規格表,每一列是一個物件。雙臂工作站沿用原本的 stationary_ai 場景,手臂和桌子完全沒改,只把原本的紙箱換成我們的包裹,位置對齊原紙箱中心,離四根夾爪指頭都是 68.7 mm。紙箱是剛體加四個摺痕關節,摺痕的力學是我們自己的模型,下一張細講。泡泡紙是 surface deformable,1225 個頂點,材料參數從模擬開發階段沿用。杯子是剛體,碰撞體貼著外形做。物理場景是 120 Hz、TGS 求解器、GPU dynamics,包材的求解迭代從 64 降到 8,畫面快了一倍。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紙箱的幾何沿用 make_carton_P 產生的 Box B,外尺寸 270 乘 230 乘 134 mm,板厚 3 mm,密度 200,所以上蓋 17.4 克、下蓋 15.1 克。下蓋長 115 mm,兩片之間留 34 mm 的縫,這是真實 RSC 紙箱內側短翼不對接的樣子。摺痕不是彈簧,是彈塑性:每個物理步依照蓋子現在的角度算出力矩施加上去,超過降伏彎矩 0.12 N·m 就留下永久折痕,放手會回彈 45 度,重複摺會變軟。前後蓋預開 50 和 60 度,是為了跟手臂開箱流程 co7b 用同一個紙箱。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這張是摺痕的驗證。我們有兩個參考:一個是 co7b,也就是雙臂開箱流程實際跑出來的結果,蓋子推到 166 到 168 度、放手停在 122 到 125 度;另一個是文獻,Nagasawa 2019 的紙板摺痕試驗,摺到 90 度放手會彈回到 43 到 46 度。原本 co7b 的摺痕定律只對得上第一個,90 度會停在 63 度,而且摺越深越硬,跟文獻相反。現在的參數兩個都對得上:165 度停 123 度,90 度停 43 度,模擬和模型預測差不到 0.3 度。參數是先把重力算進去做準靜態掃描選出來的,因為蓋子本身的重量會讓它下垂好幾度。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泡泡紙的形狀不是手畫的,是用模擬把攤平的布四折包住杯子、再放進箱子得到的結果,存成 states/box.npz,每個頂點都檢查過在紙箱內腔裡。把這個包好的形狀直接設成 deformable 的靜止形狀,所以折痕不會一播放就彈開。材料是 surface deformable,楊氏模數 2e4 Pa、厚 4 mm、摩擦 0.8,大約 65 克。箱底下面另外墊了一塊 20 mm 厚的隱形碰撞體,避免布一步穿過 3 mm 的箱底,它和桌面之間設成不碰撞,所以紙箱還是拖得動。要注意交付的場景用的是 surface 包材,後面報告的 volume 包材是下一版的方向。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杯子是 0.32 公斤的剛體,摩擦 0.9。GPU 上的凸包有頂點數上限,所以杯身用一圈一圈的凸台疊起來貼著外形,把手用 13 顆半徑 10 mm 的球沿中心線排,這樣杯子內部是空的,布可以塞進杯口。整個包裝流程下來,杯子相對紙箱只平移了 11.5 mm,沒有穿模。靜置測試裡,紙箱位移 0 mm,布穿出側牆 0 個頂點。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交付包不只是一個 USD 檔,還有啟動腳本。open_in_webrtc.sh 會自動找 Isaac Sim 裝在哪裡,binary、Docker 或 pip 版都可以,找不到可以指定路徑,加 --check 只印偵測結果不啟動。啟動後會開場景、載入摺痕模型、把包材迭代設成 8,然後自動按 Play。使用者可以直接用滑鼠左鍵拖紙箱、推蓋子,不用按 Shift。最後一步是給手臂用的:Ctrl 加左鍵點場景上任何一點,那個 3D 座標會以 geometry_msgs/PointStamped 發到 ROS 2 的 /clicked_point,frame 是 world,手臂那邊直接訂閱就能拿到目標點。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最後誠實講還沒解決的三件事。第一是劇烈甩動時布會穿出側牆,0.08 公尺、3 Hz 的八字甩動有 87 個頂點穿出去,而且把包材迭代調回 64 反而變成 200,所以不是迭代數的問題。我查了 USD,這份場景只有箱底墊片,build 腳本裡的牆外墊片沒有進來,因為交付的場景還沒用新參數重建,這是最可能的原因;靜置時是 0。第二是現在這份 USD 是舊版建置,蓋子的慣量寫死 0.006 再加 armature 0.006,大約是真實蓋子的 180 倍,手感偏重;重建場景可以修,但 co7b 的手臂路徑要重新驗證。第三是 GPU 是大家共用的,兩個 Isaac 同時跑會讓 PhysX 顯存不足、物理直接停掉,所以實驗要排隊。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這份報告涵蓋 10/7 到 10/14。前面九張快速回顧上週以前的根因、surface 定案與 volume 版,讓沒跟上的同學有脈絡。主體是本週:為什麼包材定為 volume、夾布怎麼建模、整包掀開做到什麼程度、手臂和布放進同一個模擬之後的結果。之後是三個卡點、布顫抖的阻尼掃描與速度掃描,最後是工程交付與下一步。所有數字都來自 log 或 json,量不到的地方會直接寫未量。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交接時的包裹是用 surface deformable 零厚度膜做的,四折壓實後 163 mm,比杯子高 70 mm,放進定版紙箱 148 個頂點高過箱口,蓋子蓋不上。交接文件的懷疑方向是碰撞偏移量,但它自己量過 surfaceThickness 從 10 改 4 層間距沒變。我第一步是寫 layer_gap.py,在杯頂上方打 336 個取樣點數層數與層間距,之後所有判斷都靠它。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流程照交接的設計:布攤平、四條邊依序用錨點沿圓弧折上去、整包放進紙箱、關蓋、搬箱、開蓋,最後要用夾爪把包材掀開。這一輪新增的是搬箱、開蓋和掀包材三段。紅色的最後一步是現在正在做、還沒成功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影片是交接版的壓實段:壓板壓到 138 mm,一放開彈回 163,等於沒壓。根因在錨點幾何:每一折的尖端被無窮硬的 attachment 釘在杯頂上方 12 mm 加每折 8 mm 的高度,壓實段還另外釘 4 個錨。偏移量縮 2.5 倍層間距完全沒變,證明不是碰撞參數。另外用最小探針證明 attachment 在模擬中可以 RemovePrim 放掉,原作者說放不掉是三個錨點同邊一起升被鄰居撐住的假象。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這六條是交接文件列的旋鈕加上我們想到的,每條都實跑過。縮 contactOffset 看起來層變貼,其實是偵測距離變短讓布層直接互穿,自穿模爆到兩三千。只縮 restOffset 層間距減半但自穿模翻倍,而且出生時就多 200 次,代表貼近有一半是互穿。解算迭代、CCD、降 bend、網格加密都沒幫助。最後把 rest shape 設成壓扁的狀態還是彈回 134,證明回彈不是彎曲彈性,是自碰撞間距。這張表的價值是之後不用再走回頭路。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surface 版最後定案是三個各自驗證過乾淨的改動:尖端越過中線 40 mm 讓兩片真的疊起來,自穿模三段降一個量級;surfaceThickness 4 mm;布從 586 縮到 400。放手路線放掉錨點後第二段的折邊會翻回去,所有變體都比不放手差,放棄。折序改成先折左右、後折前後,外層是前後,符合 PPT 先開前後。順帶抓到 selfcheck 對杯子方位的前提跟實際 STL 不符,照字面套會 PASS 但杯口在 x 軸,patch 多加一個 Rz(−90)。 影片左邊是 tip_over 40 的版本,是第一個乾淨的改善;右邊是把膜做薄的反例,自穿模直接爆掉,說明縮厚度這條路走不通。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入箱段原本從來沒真正跑過:USD 檔名推不到 meta,蓋子沒動但階段名照印;補 meta 之後定版紙箱 USD 預設是關的,world.reset 時蓋子已經壓在包裹上;杯子入箱平移被多算一次。三個修掉之後,四折完不壓實直接入箱、讓箱壁和蓋子當壓板,布和杯子超出內腔都是 0,關蓋後高 122 mm。搬箱加了 --movebox,包裹相對箱子只滑 2.5 mm,原地開蓋後看得到包裹完整。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第二階段把包材改成有真實厚度的 volume deformable。三支探針確認薄板建得起來、折得過去、兩層疊的間距就是板厚加兩倍 restOffset。整合成 wrap_vol.py 一次模擬跑完全程。相對 surface 的最大好處是互穿從上百降到個位數,而且同指令重跑兩次關蓋前 bbox 差不到 2 mm,surface 版同參數兩次會差到折邊滑開。代價是 solver 要 128 迭代、時間步 1/240,實跑約實時的 5 倍。 影片左右對照收耳 off 與 on:不收耳時四個角翹起來,收耳後才能乾淨入箱,所以定案參數 tuck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第一版 E 2e4 的板太硬,角落翹成鬱金香、開蓋後彈出箱外。掃六組軟度後 E 2e3 是唯一可用的窗口:開蓋後布留在箱內、俯視覆蓋 93%,再軟一階布就被拉長。一個反直覺的發現是板做薄反而更彈,因為厚度方向只有一層四面體會數值上變硬,所以要調軟只能調楊氏模數。沒解掉的是包裹撐滿內腔:不管軟硬、不管布縮到 436 還是 500,關蓋後 y 都是 223,來源是放錨後的彈性回彈。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 DECISION_phase3 的決定,判準是使用者 10/7 定的三項。volume 在夾持、穿模、重現性三軸勝出,這三項是驗收時最能說清楚的。surface 唯一贏的是計算速度,所以保留當快速對照與掃參數工具。外觀兩邊各有缺,volume 角落會翹、會撐滿內腔,但開蓋後布能留在箱內。另一個理由是手臂接觸需要實體厚度,surface 的夾持窗口只有 2 mm,對手臂控制太苛。正式參數是 E 2e3、厚 4 mm、500×500、solver 128、dt 1/240。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上週整包上純摩擦只夾到 3 個頂點,所以本週先查文獻別人怎麼在模擬裡夾布。SoftGym 和 FlingBot 都是用 picker 綁定最近的粒子,完全不建夾爪幾何。NVIDIA 論壇上有人遇到跟我們一樣的狀況,官方回覆就是摩擦不夠改 attachment。Isaac Lab 4628 則說明 deformable 不能直接綁 articulation,這決定了後面手臂場景要用代理方塊。從疊層只抓最外面一片,文獻查不到現成做法,是我們自己做的。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做法是保留摩擦接觸,但在夾爪合指完成的那一格,把指面足跡外擴 24 mm、指間中面帶內的頂點綁到手指上。只挑 yn 最外層那一片的頂點,靠 layer_order.py 依折序歸屬;上下兩層都綁,因為只綁上層時下層會被拖、四面體拉長。綁定是無限剛度,拉過頭會撕布,所以加了守衛:邊長比超過 2.3 自動放手。grip_attach README 原本推薦 pad 16,整包時改 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整包之前先在單片與兩片疊層上驗證綁定。左邊是純摩擦,右邊是綁定。綁上下兩層時滑動不到 0.14 mm,邊長比 1.67 到 1.81;只綁上層會滑 0.2 到 0.7 mm 且下層被拉長。G2a 兩片疊起來只綁上片翻 180 度,無重物時翻面 100% 和 98%,釋放後 100%。釋放本身乾淨,沒有黏住或彈飛。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這張表是整包掀 yn 片的四次嘗試。純摩擦只夾到 3 點,越線 23%。改綁定但抓角尖,指間只有 1 點,越線 5%。改抓自由邊中段,綁到 12 點、越線 71%,但放手後只剩 1%,整片彈回。最後一步把弧線終點改成繞過箱壁頂角翻到箱外,越線 100%、放手後 62%。所以兩個關鍵是抓的位置和弧線終點,不是綁定參數。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左邊是純摩擦,手指合上後布從指間滑出,只有 3 個頂點在指間,越線 23%。右邊已經換成綁定,但抓的是角尖,角尖在指間只有 1 到 2 個頂點,綁 1 點等於沒抓,越線 5%。這兩支證明問題不只是摩擦不夠,抓的位置也錯。改抓自由邊中段後綁到 12 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左右兩邊綁點一樣都是 12 點,差別只在弧線終點。左邊停在箱內放手,材料是純彈性,放手後整片彈回,只剩 1% 越線。右邊把弧線繞過箱壁頂角翻到箱外,布掛在箱壁上撐住,放手後還有 62%。這也呼應卡點:材料沒有塑性,只能靠幾何讓它留在掀開的位置。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這是代理夾爪下的最好結果。yn 綁 12 點、上下兩層,越線 100%,放手後 62%,高於判準 50%。夾持中頂點滑動中位 0.1、最大 0.2 mm,杯子最多被推 2.9 mm,布完全沒有穿杯。要強調這裡的夾爪是兩個 kinematic 方塊,不是手臂,所以沒有手臂可達性的限制。全程 wall 639 秒、模擬 86.3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 out_ga3 掀 yn 片的關鍵 15 秒。53 秒合指、綁定,接著沿弧線往外翻,繞過箱壁頂角,62.6 秒停留,65 秒放手。注意放手後 yn 片掛在箱壁外沒有彈回。也可以看到旁邊的 xp、xn 片被一起帶動,這就是下一張的他片拖動問題。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out_ga3 整體判定仍是 FAIL,原因兩個。第一是掀 yn 時其他片超過 10 mm 位移的頂點佔 20%,判準是 5%,主要是 xp 和 xn 被拖。第二是 yp 只綁到 8 點,名義越線 73%,但實測彎折只有 40%,代表 yp 是整片被抬起,而不是沿折線翻過去。影片是 yp 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本週第二條線是把布和手臂放進同一個模擬。load_cloth.py 把 wrap_vol 產出的包裹狀態載入雙臂場景,先做乾跑確認不炸。注意手臂場景 peel 的 json 參數是 E 2e4,跟代理夾爪線的 2e3 不一樣,這是兩條線目前不一致的地方。手臂還是 6 軸 follower 而不是 FR3。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手臂場景遇到兩個 Isaac Sim 限制。第一,attachment 不能直接綁到 articulation 的 gripper link,這跟 Isaac Lab 4628 一致,所以做一個沒有碰撞的 kinematic 代理方塊,每一格跟著 TCP 走,attachment 綁在方塊上。第二,在 wrap_vol 單獨跑時用 RemovePrim 放手正常,但在手臂場景 RemovePrim 會讓程序直接結束、沒有任何錯誤訊息,所以改成把 attachmentEnabled 設成 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r1 是第一次手臂 + 布掀開。夾持軸和布邊切線平行,兩指之間根本沒有布,足跡內雖然有 68 個點,但法向距離都在指間帶外,選中 0 點。結果 yn 越線只有 1.4%。這支證明夾持方向是第一個要對的東西。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r2 沿用 v2 乾跑軌跡,把綁定的高度帶放寬 14 mm,終於綁得到點。釋放前 yn 名義越線 59.8%、實測 55.9%,但他片被拖 29%,而且指頭下降時插進布 6.9 mm。這次放手後的越線沒有量到。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r3 想把夾持位置修正 72 mm,用數值 Jacobian 去改關節角,結果發散,手臂亂走,yn 越線只有 4 到 7%,布的自穿到 122。這支是反面教材,之後整條軌跡改用 Lula IK 重新解,不要在原軌跡上做小修正。 這支影片留在簡報裡,是要提醒之後改軌跡時一律整條重解。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v3 全部用 Lula IK 重解。鉸點用 yn 實測的折線,不是理論折線。抓法是在自由邊外 8 到 24 mm 垂直下降,再水平滑入 8 mm 到布中面才合指,讓夾持軸垂直布面。之後半徑 143 mm 掃到 100 度,再直線到牆外 20 mm、牆頂上 40 mm。為了找可達又不撞的姿態,掃了 210 組 φ、ψ 和偏移的組合。u 是沿自由邊的位置參數。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同一套 v3 方法,只差抓取位置。u0.45 時指頭下降把布壓下去,指間只剩 1 點,越線 26%、放手後 2%。u0.60 綁到 18 到 24 點,越線 64 到 68%,放手後 56 到 66%,這是手臂線目前最好的結果。但兩次跑他片拖動一次 52% 一次 16%,差很大,代表結果對初始條件很敏感。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這張表是 INTERFACE 第 5 節的數據。代理夾爪是上限參考。手臂線 v3 u0.60 是最好的一組,放手後越線過了 50% 的判準,但他片拖動和下降穿入都沒過。yp 片 u0.40 只綁 5 點,而且 IK 的最小奇異值 0.015,接近奇異姿態。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第一個卡點是幾何。follower gripper 的指頭是 36×70×60 mm 的盒子,而包裹開蓋後 yn 自由邊是皺的,指頭要下到布中面高度,一定會碰到旁邊皺起來的布。v3 u0.60 下降時插進布 18 mm。210 組姿態掃描裡沒有任何一組能完全不插。所以要嘛換細指頭,要嘛先撥布,這是下一步的選項。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第二個卡點是他片拖動,代理夾爪 20%,手臂 16 到 52%,判準是 5%。機制是綁定剛度無限,yn 和 xp、xn 在角落是同一張布連著的,翻 yn 時把相鄰片整片扯起來。現在平行跑三條解法:有限剛度綁定、掀之前用第二隻手壓住 xp 和 xn、以及只綁上層加縮小 pad 並先垂直抽出。三條結果今天還沒出來,所以都標進行中,沒有數字。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把判準和兩條線並排。代理夾爪除了他片拖動都過了。手臂線放手後和穿杯過了,越線只有 64 到 68%,沒到 80%。手臂線的滑動 json 裡有 slip 欄位 1.76 和 3.19,但口徑跟代理夾爪的頂點滑動是否相同沒確認,所以表上寫未量。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使用者看影片發現 volume 布一直在抖。根因有三個疊在一起:阻尼設 0、自碰撞時上下層互相推、E 2e3 本身很軟。用每格頂點位移 RMS 量顫抖,四折停留段 base 是 0.358 mm 每格,edamp 0.02 降到 0.213,約少 40%,自穿從 9 降到 0。影片左右是同一段四折,左邊沒阻尼,右邊 edamp 0.02。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十組短跑掃描。edamp 0.05 顫抖最低,但邊長比最大到 2.19、有局部拉扯。edamp 0.02 顫抖少 40%、自穿 0、邊長比最接近 base,是最平衡的一組。edamp 0.2 布已經嚴重變形,0.5 以上錨點到位但布跟不上,折不上去。ldamp 線性阻尼幾乎沒幫助,靜置段顫抖反而變大。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加阻尼後跑完整鏈,抓取段明顯變差。edamp 0.05 越線 59%、放手後 0%;edamp 0.02 夾持中滑了 84 mm、越線 0%。而且時間幾乎加倍。各只跑一次,分不出是阻尼本身還是初始條件改變後混沌發散。結論是抓取鏈維持阻尼 0,只有做折疊、入箱的展示影片時用 edamp 0.02。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速度用 wall 除以 sim 時間表示,越小越快。基準整鏈 639 秒跑 86.3 秒模擬,7.4 倍;折疊段 7.04 倍。降渲染解析度幾乎沒差,瓶頸在物理。dt 從 1/240 改 1/120,折疊段到 4.37 倍、整鏈 5.76 倍。dt 1/120 加 solver 64 折疊段最快 3.36 倍,但整鏈反而 6.02、掀開退到 59%。solver 64 單獨整鏈越線退到 40%,不可用。另外 GPU 上有一個不是我們的串流 kit 在搶資源,整鏈數字可能受影響。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dt 1/120 的整鏈 yn 越線還是 100%,但放手後是 0%,整片彈回,而且他片被拖 52%,遠比基準的 20% 差。所以單看越線會誤判 dt 1/120 可用,實際上放手後的結果不能接受。速度改動一定要跑整條鏈、看放手後的數字才能定。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工程面的交付。所有程式、USD、手臂 URDF 和軌跡都推到 sim-forge 的 sims 資料夾,clone 下來照 README 就能跑。測試集 run_checks.py 有 10 個 check 函式、共 23 個檢查項,RUNS.csv 記了 122 次模擬。demo 影片分五段加一支總集,總長 263.8 秒,用 make_demo_videos.sh 一個指令重產。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把本週的卡點排在一起。前三項本週解掉:綁定、弧線翻出、代理方塊。顫抖對展示影片有解,但抓取鏈不能加阻尼。還開著的是指頭插布、他片拖動和掀開幅度,其中他片拖動是現在最優先的。材料沒有塑性這項目前沒有解法,只能靠箱壁、第二隻手這類幾何手段讓布留在位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下一步照優先序。第一是他片拖動,三條平行解法結果出來就選一條接進手臂線。第二是指頭插布,換細指頭或先撥布。第三是雙手分工,第二隻手壓住相鄰片,這也可能同時解他片拖動。目標是手臂線越線到 80%、他片低於 5%。材料塑性目前無解,文獻提到 Newton deformable 後端預計 Lab 3.0 或 Sim 6.0。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及內容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標題及內容">
  <p:cSld name="4_標題及內容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標題及內容">
  <p:cSld name="8_標題及內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標題及內容">
  <p:cSld name="9_標題及內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標題及內容">
  <p:cSld name="10_標題及內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標題及內容">
  <p:cSld name="11_標題及內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3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及內容">
  <p:cSld name="5_標題及內容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3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|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標題及內容">
  <p:cSld name="24_標題及內容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標題及內容">
  <p:cSld name="12_標題及內容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5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375645" y="13163"/>
            <a:ext cx="10680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標題及內容">
  <p:cSld name="13_標題及內容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1375645" y="13163"/>
            <a:ext cx="1035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標題及內容">
  <p:cSld name="14_標題及內容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標題及內容">
  <p:cSld name="15_標題及內容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8"/>
          <p:cNvSpPr txBox="1"/>
          <p:nvPr/>
        </p:nvSpPr>
        <p:spPr>
          <a:xfrm>
            <a:off x="1375645" y="13163"/>
            <a:ext cx="10723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及內容">
  <p:cSld name="1_標題及內容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及內容">
  <p:cSld name="6_標題及內容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標題及內容">
  <p:cSld name="16_標題及內容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標題及內容">
  <p:cSld name="17_標題及內容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2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標題及內容">
  <p:cSld name="18_標題及內容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| Related work | Proposed Method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標題及內容">
  <p:cSld name="19_標題及內容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標題及內容">
  <p:cSld name="3_標題及內容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及內容">
  <p:cSld name="7_標題及內容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6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標題及內容">
  <p:cSld name="20_標題及內容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標題及內容">
  <p:cSld name="21_標題及內容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標題及內容">
  <p:cSld name="22_標題及內容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標題及內容">
  <p:cSld name="23_標題及內容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5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0" name="Google Shape;260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7" name="Google Shape;2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1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microsoft.com/office/2007/relationships/media" Target="../media/media11.mp4"/><Relationship Id="rId4" Type="http://schemas.openxmlformats.org/officeDocument/2006/relationships/video" Target="../media/media11.mp4"/><Relationship Id="rId5" Type="http://schemas.openxmlformats.org/officeDocument/2006/relationships/image" Target="../media/image1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microsoft.com/office/2007/relationships/media" Target="../media/media12.mp4"/><Relationship Id="rId4" Type="http://schemas.openxmlformats.org/officeDocument/2006/relationships/video" Target="../media/media12.mp4"/><Relationship Id="rId5" Type="http://schemas.openxmlformats.org/officeDocument/2006/relationships/image" Target="../media/image1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microsoft.com/office/2007/relationships/media" Target="../media/media13.mp4"/><Relationship Id="rId4" Type="http://schemas.openxmlformats.org/officeDocument/2006/relationships/video" Target="../media/media13.mp4"/><Relationship Id="rId5" Type="http://schemas.openxmlformats.org/officeDocument/2006/relationships/image" Target="../media/image1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microsoft.com/office/2007/relationships/media" Target="../media/media14.mp4"/><Relationship Id="rId4" Type="http://schemas.openxmlformats.org/officeDocument/2006/relationships/video" Target="../media/media14.mp4"/><Relationship Id="rId5" Type="http://schemas.openxmlformats.org/officeDocument/2006/relationships/image" Target="../media/image2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microsoft.com/office/2007/relationships/media" Target="../media/media15.mp4"/><Relationship Id="rId4" Type="http://schemas.openxmlformats.org/officeDocument/2006/relationships/video" Target="../media/media15.mp4"/><Relationship Id="rId5" Type="http://schemas.openxmlformats.org/officeDocument/2006/relationships/image" Target="../media/image2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microsoft.com/office/2007/relationships/media" Target="../media/media16.mp4"/><Relationship Id="rId4" Type="http://schemas.openxmlformats.org/officeDocument/2006/relationships/video" Target="../media/media16.mp4"/><Relationship Id="rId5" Type="http://schemas.openxmlformats.org/officeDocument/2006/relationships/image" Target="../media/image2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microsoft.com/office/2007/relationships/media" Target="../media/media17.mp4"/><Relationship Id="rId4" Type="http://schemas.openxmlformats.org/officeDocument/2006/relationships/video" Target="../media/media17.mp4"/><Relationship Id="rId5" Type="http://schemas.openxmlformats.org/officeDocument/2006/relationships/image" Target="../media/image2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779139" y="1671684"/>
            <a:ext cx="1065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2026.10.14</a:t>
            </a:r>
            <a:endParaRPr/>
          </a:p>
        </p:txBody>
      </p:sp>
      <p:pic>
        <p:nvPicPr>
          <p:cNvPr id="305" name="Google Shape;3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401" y="2487781"/>
            <a:ext cx="1938338" cy="14182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"/>
          <p:cNvSpPr txBox="1"/>
          <p:nvPr/>
        </p:nvSpPr>
        <p:spPr>
          <a:xfrm>
            <a:off x="779139" y="4254489"/>
            <a:ext cx="5515732" cy="150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Advisor: Prof. Huang Ching-Chun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Wyatt Sheu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"/>
          <p:cNvCxnSpPr/>
          <p:nvPr/>
        </p:nvCxnSpPr>
        <p:spPr>
          <a:xfrm>
            <a:off x="849939" y="3916017"/>
            <a:ext cx="104921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4" name="Google Shape;314;p2"/>
          <p:cNvGraphicFramePr/>
          <p:nvPr/>
        </p:nvGraphicFramePr>
        <p:xfrm>
          <a:off x="1181681" y="1613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1812375"/>
                <a:gridCol w="8016275"/>
              </a:tblGrid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3D 模型建構完成(雙臂場景 + 紙箱 + 泡泡紙 + 杯子);逆物流 Demo:volume 泡泡紙包材 + 紙箱 + 杯子 + 雙臂場景;夾布 = 摩擦 + 合指綁定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Study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夾布建模文獻快查:SoftGym、FlingBot、Isaac Lab #4628、NVIDIA forum 312694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Tasks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9A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ea typeface="Microsoft JhengHei"/>
                        </a:rPr>
                        <a:t>sim-forge repo、測試集、RUNS.csv 122 列、demo 一鍵產生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"/>
          <p:cNvSpPr txBox="1"/>
          <p:nvPr>
            <p:ph type="title"/>
          </p:nvPr>
        </p:nvSpPr>
        <p:spPr>
          <a:xfrm>
            <a:off x="896923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Summary</a:t>
            </a:r>
            <a:endParaRPr b="1">
              <a:solidFill>
                <a:srgbClr val="7F7F7F"/>
              </a:solidFill>
            </a:endParaRPr>
          </a:p>
        </p:txBody>
      </p:sp>
      <p:graphicFrame>
        <p:nvGraphicFramePr>
          <p:cNvPr id="316" name="Google Shape;316;p2"/>
          <p:cNvGraphicFramePr/>
          <p:nvPr/>
        </p:nvGraphicFramePr>
        <p:xfrm>
          <a:off x="1181681" y="3794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3D 模型建構完成:scene_final_phys.usd,紙箱摺痕對齊文獻與 co7b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包材定為 volume,surface 當對照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綁定式抓取:整包 yn 越線 100% / 放手後 62%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布載入雙臂場景;代理方塊綁定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🔄 手臂 v3 u0.60:掀 64~68%、放手後 56~66%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🛠️ 指頭插布 18 mm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🔄 他片被拖 20~50%:三條解法進行中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✅ 顫抖根因 + 阻尼 / 速度掃描;sim-forge、demo 總集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"/>
          <p:cNvSpPr txBox="1"/>
          <p:nvPr/>
        </p:nvSpPr>
        <p:spPr>
          <a:xfrm>
            <a:off x="1181681" y="339590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summarize what did you do within a week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3D 模型建構完成:一個檔案就能開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雙臂工作站 + 紙箱 + 泡泡紙 + 馬克杯,全部有物理;clone 下來直接用</a:t>
            </a:r>
            <a:endParaRPr/>
          </a:p>
        </p:txBody>
      </p:sp>
      <p:pic>
        <p:nvPicPr>
          <p:cNvPr id="347" name="Picture 346" descr="m3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88" y="2201164"/>
            <a:ext cx="9561118" cy="3705860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scene_final_phys.usd(RTX 渲染);右下兩張隱藏了外層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四個物件,各自的物理模型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910690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數字都來自 USD、build 腳本或量測 log</a:t>
            </a:r>
            <a:endParaRPr/>
          </a:p>
        </p:txBody>
      </p:sp>
      <p:graphicFrame>
        <p:nvGraphicFramePr>
          <p:cNvPr id="340" name="Table 339"/>
          <p:cNvGraphicFramePr>
            <a:graphicFrameLocks noGrp="1"/>
          </p:cNvGraphicFramePr>
          <p:nvPr/>
        </p:nvGraphicFramePr>
        <p:xfrm>
          <a:off x="566928" y="2539086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268980"/>
                <a:gridCol w="2766060"/>
                <a:gridCol w="3520439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物件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幾何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物理模型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關鍵參數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雙臂工作站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stationary_ai 原場景,手臂與桌子不動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articulation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紙箱在兩臂正中,離夾爪 68.7 mm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紙箱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270 × 230 × 134 mm,3 mm 板,四片蓋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剛體 + 摺痕關節(每步施力矩)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降伏 0.12 N·m,回彈 45°,重複摺變軟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泡泡紙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1225 頂點 / 2312 三角形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surface deformable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E 2e4 Pa,厚 4 mm,μ 0.8,≈ 65 g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馬克杯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高 93 mm,側躺在包裹內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剛體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0.32 kg,μ 0.9,外形凸台 + 把手 13 球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物理場景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PhysicsScene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GPU dynamics,TGS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120 Hz,迭代 8 / 1;包材迭代 8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紙箱:四片蓋,摺痕會降伏、會回彈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箱 270 × 230 × 134 mm,3 mm 板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上蓋 17.4 g、下蓋 15.1 g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摺痕 = 每步施加的力矩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降伏 0.12 N·m,回彈 45°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重複摺疊會變軟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前後蓋預開 50° / 60°(配合 co7b)</a:t>
            </a:r>
            <a:endParaRPr/>
          </a:p>
        </p:txBody>
      </p:sp>
      <p:pic>
        <p:nvPicPr>
          <p:cNvPr id="347" name="Picture 346" descr="m3d_car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四片蓋推開後(俯視);箱內是泡泡紙包裹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摺痕驗證:165° → 123°,90° → 43°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02028"/>
            <a:ext cx="5257800" cy="4615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前後蓋推到 165°:停 122.9° / 123.5°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co7b 手臂實跑 122.5~125.1°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全關推到 89°:停 43.0°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文獻 43~46°(Nagasawa 2019)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模型預測 vs 模擬 ≤ 0.3°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co7b 原定律:90° 停 63°,越摺越硬</a:t>
            </a:r>
            <a:endParaRPr/>
          </a:p>
        </p:txBody>
      </p:sp>
      <p:pic>
        <p:nvPicPr>
          <p:cNvPr id="347" name="Picture 346" descr="m3d_cr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602029"/>
            <a:ext cx="5257800" cy="4206240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863134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放手後停的角度 vs 推到的角度;實線含蓋子重力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泡泡紙:模擬折出來的形狀當靜止形狀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surface deformable,1225 頂點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2e4 Pa、厚 4 mm、μ 0.8、65 g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靜止形狀 = 包好的形狀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箱底 20 mm 隱形墊片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交付版是 surface;volume 見後面</a:t>
            </a:r>
            <a:endParaRPr/>
          </a:p>
        </p:txBody>
      </p:sp>
      <p:pic>
        <p:nvPicPr>
          <p:cNvPr id="347" name="Picture 346" descr="m3d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把紙箱隱藏後的包裹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馬克杯:剛體,碰撞體貼外形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剛體 0.32 kg,μ 0.9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碰撞體 = 外形疊凸台 + 把手 13 球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球半徑 10 mm,沿把手中心線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包裝後杯子位移 11.5 mm(剛體平移)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靜置:紙箱 0 mm、布不穿牆</a:t>
            </a:r>
            <a:endParaRPr/>
          </a:p>
        </p:txBody>
      </p:sp>
      <p:pic>
        <p:nvPicPr>
          <p:cNvPr id="347" name="Picture 346" descr="m3d_m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把紙箱和包材都隱藏後的杯子(側躺)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互動:滑鼠拖拉、Ctrl+點擊送 ROS 2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2024685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一行指令開場景;Isaac 位置自動偵測(binary / Docker / pip)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交付:sim-forge / sims / fr3_bubblewrap_pack_handoff_20261007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66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66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>
                <a:solidFill>
                  <a:srgbClr val="3E5F27"/>
                </a:solidFill>
                <a:latin typeface="Calibri"/>
              </a:rPr>
              <a:t>open_in_webrtc.sh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或 open_in_ui.sh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2523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566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--check 只印偵測結果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port 被佔用自動換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852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852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開場景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scene_final_phys.usd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4809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2852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載入紙箱摺痕模型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包材迭代設 8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約 20 s 出現 READY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5138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3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5138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按 Play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WebRTC 自動按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7095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5138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120 Hz 物理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WebRTC 版自動按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424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7424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滑鼠拖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力量式 70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9381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7424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拖紙箱、推蓋子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不用按 Shift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710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5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9710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C00000"/>
                </a:solidFill>
                <a:latin typeface="Calibri"/>
                <a:ea typeface="Microsoft JhengHei"/>
              </a:rPr>
              <a:t>Ctrl + 點擊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取 3D 座標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9710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PointStamped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/clicked_point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frame = 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還沒解決的三件事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878482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模型能用,但這三點會影響手臂實驗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66928" y="2506878"/>
            <a:ext cx="3541776" cy="3252470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2506878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甩動時布穿牆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0.08 m、3 Hz 甩動:87 頂點穿出側牆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迭代 64 反而 200,不是迭代問題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這份 USD 沒有牆外墊片(build 有,未重建)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28160" y="2506878"/>
            <a:ext cx="3541776" cy="3252470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28160" y="2506878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28160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蓋子慣量偏大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28160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USD 是舊版:0.006 + armature 0.006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約真實 15 g 蓋子的 180 倍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重建要重驗 co7b 手臂路徑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089391" y="2506878"/>
            <a:ext cx="3541776" cy="3252470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089391" y="2506878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089391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GPU 共用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089391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同時兩個 Isaac → PhysX 顯存不足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迭代 8:每幀 275 → 132 ms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實驗要排隊、一次一個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</a:t>
            </a:r>
            <a:endParaRPr/>
          </a:p>
        </p:txBody>
      </p:sp>
      <p:sp>
        <p:nvSpPr>
          <p:cNvPr id="323" name="Google Shape;323;p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841248" y="2471419"/>
            <a:ext cx="10515600" cy="3746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Goal:雙臂開箱 → 掀泡泡紙 → 夾出馬克杯;我負責 3D 模型(包材、紙箱、杯子、雙臂場景)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本週:包材定為 volume;抓取改「摩擦 + 合指時綁定」</a:t>
            </a:r>
            <a:endParaRPr/>
          </a:p>
          <a:p>
            <a:pPr indent="0" lvl="0" marL="11430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Status:代理夾爪整包掀開 100% / 放手後 62%;手臂 + 布 64~68%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卡點:指頭插布 18 mm、他片被拖 20~50%、掀開未到 80%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 txBox="1"/>
          <p:nvPr/>
        </p:nvSpPr>
        <p:spPr>
          <a:xfrm>
            <a:off x="1953985" y="1332336"/>
            <a:ext cx="8284029" cy="48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volume 定案 → 夾布 = 摩擦 + 綁定 → 整包掀開 → 手臂 + 布 → 卡點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交接時:包裹比杯子高 70 mm,蓋不上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212079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杯子躺平 107×133×93;Sep 27 版壓實後 163 mm,148 個頂點高過箱口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交接懷疑碰撞偏移量;thickness 10→4 層間距沒變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先做量尺 layer_gap.py:杯頂上方幾層、每層幾 mm</a:t>
            </a: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566928" y="3384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566928" y="3384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566928" y="3466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163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交接時包裹高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杯子 93 mm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358640" y="3384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358640" y="3384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358640" y="3466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48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布頂離杯頂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4~5 層,每層 8.6 mm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8150352" y="3384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150352" y="3384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8150352" y="3466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512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布自穿模(次)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壓實後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流程:模擬折疊建包裹,開箱反過來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2514803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每一折:整條邊綁 kinematic 錨點,沿兩段圓弧拉到杯頂;前一折留著,下一折蓋上去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量測不看畫面:逐頂點比對內腔、邊級別穿杯、自穿模、層間距、邊長比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66928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66928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攤平的布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1870601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2199785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2199785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四折包杯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3503458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3832642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3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3832642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入箱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5136315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/>
          <p:cNvSpPr txBox="1"/>
          <p:nvPr/>
        </p:nvSpPr>
        <p:spPr>
          <a:xfrm>
            <a:off x="5465499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5465499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關蓋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6769172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/>
          <p:cNvSpPr txBox="1"/>
          <p:nvPr/>
        </p:nvSpPr>
        <p:spPr>
          <a:xfrm>
            <a:off x="7098356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5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7098356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搬箱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8402029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8731213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6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8731213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開蓋</a:t>
            </a:r>
          </a:p>
        </p:txBody>
      </p:sp>
      <p:cxnSp>
        <p:nvCxnSpPr>
          <p:cNvPr id="357" name="Connector 356"/>
          <p:cNvCxnSpPr/>
          <p:nvPr/>
        </p:nvCxnSpPr>
        <p:spPr>
          <a:xfrm>
            <a:off x="10034886" y="427908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10364070" y="3460699"/>
            <a:ext cx="1267097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7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10364070" y="3753306"/>
            <a:ext cx="1267097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latin typeface="Calibri"/>
                <a:ea typeface="Microsoft JhengHei"/>
              </a:rPr>
              <a:t>夾爪掀包材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根因:尖端被釘在空中,不是碰撞參數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終點寫死:杯頂 +12 mm + 每折 8 mm;attachment 無窮硬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壓實段釘 4 個錨;拿掉 → 壓住 138 → 117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偏移量縮 2.5 倍,層間距 5.46 → 5.44 沒動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attachment 可 RemovePrim 放掉;原結論是量測假象</a:t>
            </a:r>
            <a:endParaRPr/>
          </a:p>
        </p:txBody>
      </p:sp>
      <p:pic>
        <p:nvPicPr>
          <p:cNvPr id="347" name="01_baseline_pres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交接版壓實:壓到 138 放開彈回 163(15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排除的六條路:每條都有數字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162048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422"/>
                <a:gridCol w="3863916"/>
                <a:gridCol w="3863916"/>
                <a:gridCol w="671985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旋鈕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改法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結果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判定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contactOffset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5 → 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自穿模 13 → 104 → 2403(互穿)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restOffset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 → 0.2 mm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層間距減半,自穿模 ×2,出生時就多 200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solver / CCD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64 → 128,colIter ×2,CCD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自穿模 3726;CCD 無效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bend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 → 1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回彈 24 → 35 mm 更差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網格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34 → 50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層間距 4.4 → 6.6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摺痕定型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rest shape := 壓扁狀態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放開照樣 117 → 134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surface 定案:越線疊合,thin 是反例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588361"/>
            <a:ext cx="5257800" cy="3629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tip_over 40 mm 兩片真的疊:自穿模 13/257/512 → 2/55/144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thick 4 mm 乾淨;放手路線翻掉,放棄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布 586 → 400:體積 4.9 → 3.1 倍;折序 x→y;杯口 +y 杯耳 +x</a:t>
            </a:r>
            <a:endParaRPr/>
          </a:p>
        </p:txBody>
      </p:sp>
      <p:pic>
        <p:nvPicPr>
          <p:cNvPr id="347" name="26_tipover_vs_thi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588362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3701359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121983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tip_over 40(第一個乾淨改善)/ 右 thin(反例:自穿模爆)(15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入箱 0 超出 → 關蓋 → 搬箱 → 開蓋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四折完直接入箱,箱壁與蓋子當壓板:布 0 / 杯 0 超出,關蓋後 122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搬箱相對位移 2.5 mm;搬前後超出相同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修三個 bug:缺 meta、reset 時蓋子關著、杯子平移重算</a:t>
            </a:r>
            <a:endParaRPr/>
          </a:p>
        </p:txBody>
      </p:sp>
      <p:pic>
        <p:nvPicPr>
          <p:cNvPr id="347" name="03_surf_box_move_ope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0:16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搬箱(+y 200、抬 100)→ 原地開蓋確認箱內(16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volume 版:互穿 ≤ 8、同指令可重現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588361"/>
            <a:ext cx="5257800" cy="3629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手寫 35×35×1 四面體;層間距 = 板厚 + 2×rest = 5.0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穿杯 0、反轉 0、自互穿 ≤ 8(surface 97~156)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同指令兩次 bbox 差 ≤ 2 mm;solver 128、dt 1/240</a:t>
            </a:r>
            <a:endParaRPr/>
          </a:p>
        </p:txBody>
      </p:sp>
      <p:pic>
        <p:nvPicPr>
          <p:cNvPr id="347" name="28_tuck0_vs_tuck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588362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3701359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121983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tuck 0 角落翹耳 / 右 tuck 1 收耳後入箱(E 2e3,15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軟度掃描:E 2e3 留箱內,但撐滿內腔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2e4 → 2e3:開蓋後布頂 207 → 129 mm,覆蓋 73 → 93%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1e3 布被拉長;板變薄反而更彈(單層鎖死)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關蓋後 y 一律 223 = 內腔;角落耳朵要側板壓</a:t>
            </a:r>
            <a:endParaRPr/>
          </a:p>
        </p:txBody>
      </p:sp>
      <p:pic>
        <p:nvPicPr>
          <p:cNvPr id="347" name="05_vol_move_ope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s2(E 2e3):搬箱 → 開蓋,布頂 129 &lt; 箱口 131,覆蓋 93%(15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決定:包材用 volume,surface 當對照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判準:夾得住、掀得開;外觀正確;物理正確(少量穿模可)</a:t>
            </a:r>
          </a:p>
        </p:txBody>
      </p:sp>
      <p:graphicFrame>
        <p:nvGraphicFramePr>
          <p:cNvPr id="355" name="Table 354"/>
          <p:cNvGraphicFramePr>
            <a:graphicFrameLocks noGrp="1"/>
          </p:cNvGraphicFramePr>
          <p:nvPr/>
        </p:nvGraphicFramePr>
        <p:xfrm>
          <a:off x="566928" y="2194967"/>
          <a:ext cx="11064238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969"/>
                <a:gridCol w="3477332"/>
                <a:gridCol w="3793453"/>
                <a:gridCol w="1264484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軸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surface(零厚度膜)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volume(4 mm 板)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勝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夾得住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可,間隙只 1.5~2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可,間隙 2~5 mm,翻面 100%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穿模(自穿/穿杯/入箱)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97~156 / 0 / 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≤ 8 / 0 / 0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重現性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同參數差 6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關蓋前 ≤ 2 mm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外觀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包得密;開蓋後彈起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角落翹耳;開蓋後 93% 留箱內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各有缺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計算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2~3 分/段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4 分全程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surface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夾布建模查文獻:主流是綁定,不是純摩擦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3 輪搜尋、未逐篇細讀(LIT_grasp_20261014)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566928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66928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566928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SoftGym / FlingBot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566928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球形 picker,啟動時綁閾值內最近粒子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關閉即釋放;沒有真實夾爪幾何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387852" y="2115312"/>
            <a:ext cx="2601468" cy="337108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387852" y="2115312"/>
            <a:ext cx="2601468" cy="84124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3387852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NVIDIA forum 312694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387852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deformable 純摩擦能夾起但撐不住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官方:摩擦不夠改 attachment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208776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208776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208776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Isaac Lab #4628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208776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deformable 直接 attach 到 articulation 實質不支援(Sim 5.1)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改由 kinematic actuator 驅動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029699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029699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029699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 lang="zh-TW">
                <a:solidFill>
                  <a:srgbClr val="FFFFFF"/>
                </a:solidFill>
                <a:latin typeface="Calibri"/>
                <a:ea typeface="Microsoft JhengHei"/>
              </a:rPr>
              <a:t>查不到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9029699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疊層只抓單層的模擬做法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指面要蓋幾個頂點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surface vs volume 抓取比較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hybrid:摩擦接觸 + 合指時綁定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0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只綁最外層 yn,上下兩層都綁;邊長比 &gt; 2.3 自動放手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6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56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摩擦接觸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μ 0.8</a:t>
            </a:r>
          </a:p>
        </p:txBody>
      </p:sp>
      <p:cxnSp>
        <p:nvCxnSpPr>
          <p:cNvPr id="343" name="Connector 342"/>
          <p:cNvCxnSpPr/>
          <p:nvPr/>
        </p:nvCxnSpPr>
        <p:spPr>
          <a:xfrm>
            <a:off x="214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56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指面照常碰撞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247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247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合指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間距 4.5 mm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4047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247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完成那一格才綁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37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3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437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latin typeface="Calibri"/>
                <a:ea typeface="Microsoft JhengHei"/>
              </a:rPr>
              <a:t>挑點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pad 24 mm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595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/>
          <p:cNvSpPr txBox="1"/>
          <p:nvPr/>
        </p:nvSpPr>
        <p:spPr>
          <a:xfrm>
            <a:off x="437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只挑 yn 最外層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上下兩層都綁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28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628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綁定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VtxXformAttachment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7857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628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綁到指 / 代理方塊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18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5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818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弧線掀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--arc2 1</a:t>
            </a:r>
          </a:p>
        </p:txBody>
      </p:sp>
      <p:cxnSp>
        <p:nvCxnSpPr>
          <p:cNvPr id="359" name="Connector 358"/>
          <p:cNvCxnSpPr/>
          <p:nvPr/>
        </p:nvCxnSpPr>
        <p:spPr>
          <a:xfrm>
            <a:off x="976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818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繞過箱壁頂角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009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6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009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放手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守衛 2.3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009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邊長比超標自動放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單片探針:摩擦夾持 vs 綁定夾持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61439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綁定 both:滑動 ≤ 0.14 mm、邊長比 1.67~1.81;top-only 滑 0.2~0.7 mm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G2a 疊層翻 180°:無重物 100% / 98%,釋放後 100%</a:t>
            </a:r>
            <a:endParaRPr/>
          </a:p>
        </p:txBody>
      </p:sp>
      <p:pic>
        <p:nvPicPr>
          <p:cNvPr id="347" name="25_probe_fric_vs_attac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6073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3533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7740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G1 單片夾懸出邊:左 純摩擦 / 右 綁定(pad 16、both、間隙 4)(11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整包掀開的四次嘗試:每次只改一件事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365247"/>
          <a:ext cx="11064237" cy="2663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409"/>
                <a:gridCol w="4425696"/>
                <a:gridCol w="1702190"/>
                <a:gridCol w="1531971"/>
                <a:gridCol w="1531971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改動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綁點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越線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純摩擦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夾到 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23%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1%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out_ga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綁定,抓角尖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out_ga2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抓自由邊中段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1%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out_ga3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+ 弧線翻到箱外(--arc2 1)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62%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失敗一:摩擦只夾 3 點、角尖只綁 1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788439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結論:要抓 yn 自由邊中段(邊參數 0.3~0.6),不抓角尖</a:t>
            </a:r>
            <a:endParaRPr/>
          </a:p>
        </p:txBody>
      </p:sp>
      <p:pic>
        <p:nvPicPr>
          <p:cNvPr id="347" name="20_friction_vs_corn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4168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16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5835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純摩擦(夾到 3 點,越線 23%)/ 右 綁定抓角尖(綁 1 點,越線 5%)(15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失敗二:停在箱內放手 → 整片彈回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788439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弧線終點要繞過箱壁頂角翻到箱外(--arc2 1),靠箱壁撐住</a:t>
            </a:r>
            <a:endParaRPr/>
          </a:p>
        </p:txBody>
      </p:sp>
      <p:pic>
        <p:nvPicPr>
          <p:cNvPr id="347" name="21_inbox_vs_arc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4168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16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5835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out_ga2 箱內放手(放手後 1%)/ 右 out_ga3 繞過箱壁翻出(放手後 62%)(15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out_ga3:yn 越線 100%、放手後 62%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453030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代理夾爪(kinematic 方塊),不是手臂;全程自穿 ≤ 5、反轉 ≤ 5</a:t>
            </a:r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566928" y="3081426"/>
            <a:ext cx="2532888" cy="1816099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566928" y="3081426"/>
            <a:ext cx="2532888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566928" y="3163722"/>
            <a:ext cx="2532888" cy="1733803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4600" b="1" i="0" lang="zh-TW">
                <a:solidFill>
                  <a:srgbClr val="3E5F27"/>
                </a:solidFill>
                <a:latin typeface="Calibri"/>
                <a:ea typeface="Microsoft JhengHei"/>
              </a:rPr>
              <a:t>12 點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yn 綁定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上下兩層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410712" y="3081426"/>
            <a:ext cx="2532888" cy="1816099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3410712" y="3081426"/>
            <a:ext cx="2532888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410712" y="3163722"/>
            <a:ext cx="2532888" cy="1733803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4600" b="1" i="0">
                <a:solidFill>
                  <a:srgbClr val="3E5F27"/>
                </a:solidFill>
                <a:latin typeface="Calibri"/>
              </a:rPr>
              <a:t>100%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越線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放手後 62%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6254496" y="3081426"/>
            <a:ext cx="2532888" cy="1816099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6254496" y="3081426"/>
            <a:ext cx="2532888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6254496" y="3163722"/>
            <a:ext cx="2532888" cy="1733803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4600" b="1" i="0">
                <a:solidFill>
                  <a:srgbClr val="3E5F27"/>
                </a:solidFill>
                <a:latin typeface="Calibri"/>
              </a:rPr>
              <a:t>0.2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夾持中滑動最大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判準 &lt; 2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9098280" y="3081426"/>
            <a:ext cx="2532888" cy="1816099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098280" y="3081426"/>
            <a:ext cx="2532888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9098280" y="3163722"/>
            <a:ext cx="2532888" cy="1733803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4600" b="1" i="0">
                <a:solidFill>
                  <a:srgbClr val="3E5F27"/>
                </a:solidFill>
                <a:latin typeface="Calibri"/>
              </a:rPr>
              <a:t>2.9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杯位移最大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穿杯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影片:out_ga3 掀 yn 片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pic>
        <p:nvPicPr>
          <p:cNvPr id="347" name="13_vol_grasp_y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46376" y="1572768"/>
            <a:ext cx="7705343" cy="43342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2337816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out_ga3 t 52~67 s:合指 → 綁 12 點 → 弧線翻出箱壁 → 放手(15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沒過:他片被拖 20%、yp 只 73%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他片 &gt;10 mm:20.0%(判準 &lt; 5%)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xp 138、xn 202 點,最大 103.5 mm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yp:綁 8 點,越線 73%、放手後 67%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23.2%;實測彎折只 40%</a:t>
            </a:r>
            <a:endParaRPr/>
          </a:p>
        </p:txBody>
      </p:sp>
      <p:pic>
        <p:nvPicPr>
          <p:cNvPr id="347" name="14_vol_grasp_y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out_ga3 yp 片:綁 8 點,越線 73% / 放手後 67%(14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手臂 + 布同一模擬:載入雙臂場景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arm/cloth/load_cloth.py 把 volume 包裹載入雙臂場景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手臂場景 peel 參數:E 2e4、μ 0.8、solver 128、dt 1/240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手臂是 6 軸 follower,不是 FR3</a:t>
            </a:r>
            <a:endParaRPr/>
          </a:p>
        </p:txBody>
      </p:sp>
      <p:pic>
        <p:nvPicPr>
          <p:cNvPr id="347" name="15_arm_load_clot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0:10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dry_with_cloth:布載入雙臂場景後乾跑(11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不能綁 gripper → 綁代理方塊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630762"/>
            <a:ext cx="5257800" cy="4587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Isaac Lab #4628:不能直接綁 follower_*_gripper_*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RemovePrim 在手臂場景程序無訊息結束 → 改 attachmentEnabled=False</a:t>
            </a:r>
            <a:endParaRPr/>
          </a:p>
        </p:txBody>
      </p:sp>
      <p:cxnSp>
        <p:nvCxnSpPr>
          <p:cNvPr id="340" name="diagram:edge:e1"/>
          <p:cNvCxnSpPr>
            <a:stCxn id="345" idx="2"/>
            <a:endCxn id="346" idx="0"/>
          </p:cNvCxnSpPr>
          <p:nvPr/>
        </p:nvCxnSpPr>
        <p:spPr>
          <a:xfrm>
            <a:off x="9002268" y="2116199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diagram:edge:e2"/>
          <p:cNvCxnSpPr>
            <a:stCxn id="346" idx="2"/>
            <a:endCxn id="347" idx="0"/>
          </p:cNvCxnSpPr>
          <p:nvPr/>
        </p:nvCxnSpPr>
        <p:spPr>
          <a:xfrm>
            <a:off x="9002268" y="2983050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diagram:label:e2"/>
          <p:cNvSpPr txBox="1"/>
          <p:nvPr/>
        </p:nvSpPr>
        <p:spPr>
          <a:xfrm>
            <a:off x="8563356" y="3027454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12700" bIns="12700">
            <a:spAutoFit/>
          </a:bodyPr>
          <a:lstStyle/>
          <a:p>
            <a:pPr algn="ctr"/>
            <a:r>
              <a:rPr sz="1050" b="1" i="0" lang="zh-TW">
                <a:solidFill>
                  <a:srgbClr val="1A1A1A"/>
                </a:solidFill>
                <a:latin typeface="Calibri"/>
                <a:ea typeface="Microsoft JhengHei"/>
              </a:rPr>
              <a:t>每格跟隨</a:t>
            </a:r>
          </a:p>
        </p:txBody>
      </p:sp>
      <p:cxnSp>
        <p:nvCxnSpPr>
          <p:cNvPr id="343" name="diagram:edge:e3"/>
          <p:cNvCxnSpPr>
            <a:stCxn id="347" idx="2"/>
            <a:endCxn id="348" idx="0"/>
          </p:cNvCxnSpPr>
          <p:nvPr/>
        </p:nvCxnSpPr>
        <p:spPr>
          <a:xfrm>
            <a:off x="9002268" y="3849901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diagram:edge:e4"/>
          <p:cNvCxnSpPr>
            <a:stCxn id="348" idx="2"/>
            <a:endCxn id="349" idx="0"/>
          </p:cNvCxnSpPr>
          <p:nvPr/>
        </p:nvCxnSpPr>
        <p:spPr>
          <a:xfrm>
            <a:off x="9002268" y="4716752"/>
            <a:ext cx="0" cy="381416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diagram:node:ik"/>
          <p:cNvSpPr/>
          <p:nvPr/>
        </p:nvSpPr>
        <p:spPr>
          <a:xfrm>
            <a:off x="7904988" y="1630763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Lula IK</a:t>
            </a:r>
          </a:p>
        </p:txBody>
      </p:sp>
      <p:sp>
        <p:nvSpPr>
          <p:cNvPr id="346" name="diagram:node:tcp"/>
          <p:cNvSpPr/>
          <p:nvPr/>
        </p:nvSpPr>
        <p:spPr>
          <a:xfrm>
            <a:off x="7904988" y="2497614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TCP</a:t>
            </a:r>
          </a:p>
        </p:txBody>
      </p:sp>
      <p:sp>
        <p:nvSpPr>
          <p:cNvPr id="347" name="diagram:node:px"/>
          <p:cNvSpPr/>
          <p:nvPr/>
        </p:nvSpPr>
        <p:spPr>
          <a:xfrm>
            <a:off x="7904988" y="3364465"/>
            <a:ext cx="2194560" cy="485436"/>
          </a:xfrm>
          <a:prstGeom prst="rect">
            <a:avLst/>
          </a:prstGeom>
          <a:solidFill>
            <a:srgbClr val="FDEEEE"/>
          </a:solidFill>
          <a:ln w="254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1" lang="zh-TW">
                <a:solidFill>
                  <a:srgbClr val="1A1A1A"/>
                </a:solidFill>
                <a:latin typeface="Calibri"/>
                <a:ea typeface="Microsoft JhengHei"/>
              </a:rPr>
              <a:t>代理方塊</a:t>
            </a:r>
          </a:p>
        </p:txBody>
      </p:sp>
      <p:sp>
        <p:nvSpPr>
          <p:cNvPr id="348" name="diagram:node:att"/>
          <p:cNvSpPr/>
          <p:nvPr/>
        </p:nvSpPr>
        <p:spPr>
          <a:xfrm>
            <a:off x="7904988" y="4231316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Attachment</a:t>
            </a:r>
          </a:p>
        </p:txBody>
      </p:sp>
      <p:sp>
        <p:nvSpPr>
          <p:cNvPr id="349" name="diagram:node:cl"/>
          <p:cNvSpPr/>
          <p:nvPr/>
        </p:nvSpPr>
        <p:spPr>
          <a:xfrm>
            <a:off x="7904988" y="5098168"/>
            <a:ext cx="2194560" cy="485436"/>
          </a:xfrm>
          <a:prstGeom prst="flowChartTerminator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 lang="zh-TW">
                <a:solidFill>
                  <a:srgbClr val="1A1A1A"/>
                </a:solidFill>
                <a:latin typeface="Calibri"/>
                <a:ea typeface="Microsoft JhengHei"/>
              </a:rPr>
              <a:t>布 yn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73368" y="5820032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放手:attachmentEnabled = False(RemovePrim 會讓程序無訊息結束)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 r1:夾持軸平行布邊 → 綁 0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指間沒有布:足跡內 68 點,|n| 全在 −139.8 ~ −6.2 mm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下降穿入 8.66 mm;yn 越線 1.4%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教訓:夾持軸必須垂直布面</a:t>
            </a:r>
            <a:endParaRPr/>
          </a:p>
        </p:txBody>
      </p:sp>
      <p:pic>
        <p:nvPicPr>
          <p:cNvPr id="347" name="22_arm_r1_bind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r1:足跡內 68 點,指間中面帶內 0 點(15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r2:放寬高度帶,掀 56~60%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釋放前 yn 越線 名義 59.8% / 實測 55.9%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29%;下降穿入 6.9 mm;滑動 max 1.28 mm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放手後越線:未量到</a:t>
            </a:r>
            <a:endParaRPr/>
          </a:p>
        </p:txBody>
      </p:sp>
      <p:pic>
        <p:nvPicPr>
          <p:cNvPr id="347" name="16_arm_peel_r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r2:v2 軌跡,高度帶放寬 14 mm(12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 r3:數值 Jacobian 修正 → 發散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用數值 Jacobian 修 72 mm 平移,發散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名義 4.2% → 6.7%;自穿 122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教訓:改用 Lula IK 重解整條軌跡</a:t>
            </a:r>
            <a:endParaRPr/>
          </a:p>
        </p:txBody>
      </p:sp>
      <p:pic>
        <p:nvPicPr>
          <p:cNvPr id="347" name="23_arm_r3_i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r3:手臂亂走,yn 越線最後 6.7%(15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v3:Lula IK 重解,夾持軸垂直布面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2363012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可達性掃描 210 組 φ×ψ×偏移,參數 u 沿自由邊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6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6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鉸點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yn 實測折線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214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56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箱底 y −71.4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47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47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垂直下降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自由邊外 8~24 mm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4047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247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自由邊外 8~24 mm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37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3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437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latin typeface="Calibri"/>
                <a:ea typeface="Microsoft JhengHei"/>
              </a:rPr>
              <a:t>水平滑入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8 mm 到布中面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595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437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8 mm 到布中面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28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628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合指 + 綁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pad 24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7857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628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pad 24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818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5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818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弧線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R 143 掃到 100°</a:t>
            </a:r>
          </a:p>
        </p:txBody>
      </p:sp>
      <p:cxnSp>
        <p:nvCxnSpPr>
          <p:cNvPr id="358" name="Connector 357"/>
          <p:cNvCxnSpPr/>
          <p:nvPr/>
        </p:nvCxnSpPr>
        <p:spPr>
          <a:xfrm>
            <a:off x="976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818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 143 掃到 100°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009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6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1009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翻出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牆外 20 / 牆頂 +40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009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牆外 20 / 牆頂 +40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u0.45 綁 1 點;u0.60 綁 18~24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281037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u0.45:越線 26%、放手後 2%、他片 79%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u0.60:放手後 56~66%,他片 16~52%(兩次差很大)</a:t>
            </a:r>
            <a:endParaRPr/>
          </a:p>
        </p:txBody>
      </p:sp>
      <p:pic>
        <p:nvPicPr>
          <p:cNvPr id="347" name="24_u45_vs_u6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3226933"/>
            <a:ext cx="11064240" cy="1562823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4423996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484462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u0.45:指頭把布壓下去,綁 1 點,越線 26% / 右 u0.60:越線 64~68%(15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手臂線五次跑:最好 u0.60,仍未全過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162048"/>
          <a:ext cx="11064240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1844040"/>
                <a:gridCol w="1844040"/>
                <a:gridCol w="2011680"/>
                <a:gridCol w="201168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越線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他片拖動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下降穿入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out_ga3(代理夾爪)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20%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–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r2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56~60%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未量到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29%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6.9 mm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v3 u0.45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26%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79%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 1 點 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v3 u0.60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64~68%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56~66% ✓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16~52%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18 mm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v3 yp u0.40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52%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 5 點 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卡點一:指頭盒插進皺布 18 mm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210 組姿態沒有一組不插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66928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66928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566928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60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指頭盒高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盒 36×70×60 mm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58640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58640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58640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18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下降穿入</a:t>
            </a:r>
          </a:p>
          <a:p>
            <a:pPr algn="ctr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  <a:latin typeface="Calibri"/>
              </a:rPr>
              <a:t>v3 u0.60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8150352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150352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150352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5900" b="1" i="0">
                <a:solidFill>
                  <a:srgbClr val="3E5F27"/>
                </a:solidFill>
                <a:latin typeface="Calibri"/>
              </a:rPr>
              <a:t>0 / 210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不插布的姿態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φ×ψ×偏移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卡點二:他片被拖 20~50%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機制:綁定無限剛度,翻 yn 時把相連的 xp/xn 扯動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66928" y="2362199"/>
            <a:ext cx="3541776" cy="27538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66928" y="2362199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566928" y="2362199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有限剛度綁定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566928" y="3008375"/>
            <a:ext cx="3541776" cy="20711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attachment stiffness 設有限值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拉太緊就滑,不硬扯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進行中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4328160" y="2362199"/>
            <a:ext cx="3541776" cy="275386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328160" y="2362199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4328160" y="2362199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掀前壓住 xp/xn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4328160" y="3008375"/>
            <a:ext cx="3541776" cy="20711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模擬第二隻手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PPT 的雙手分工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進行中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8089391" y="2362199"/>
            <a:ext cx="3541776" cy="27538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089391" y="2362199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089391" y="2362199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只綁上層 + 縮 pad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8089391" y="3008375"/>
            <a:ext cx="3541776" cy="20711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先垂直抽出再翻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減少連帶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進行中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卡點三:手臂掀開 64%,未到 80%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2162048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845"/>
                <a:gridCol w="1891323"/>
                <a:gridCol w="3782646"/>
                <a:gridCol w="3467425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判準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目標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代理夾爪 out_ga3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手臂 v3 u0.60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yn 越線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≥ 80%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100% ✓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64~68%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≥ 50%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62% ✓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56~66% ✓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滑動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 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0.2 mm ✓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他片拖動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 5%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20%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16~52%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穿杯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 ✓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 ✓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顫抖:volume 布一直抖,根因三個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61439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根因:阻尼 0 + 自碰撞層間互推 + E 2e3 太軟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edamp 0.02:停留顫抖 RMS 0.358 → 0.213 mm/格(−40%),自穿 0</a:t>
            </a:r>
            <a:endParaRPr/>
          </a:p>
        </p:txBody>
      </p:sp>
      <p:pic>
        <p:nvPicPr>
          <p:cNvPr id="347" name="18_damp_compar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6073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3533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7740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四折段:左 edamp 0(抓取鏈)/ 右 edamp 0.02(15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阻尼掃描:edamp 0.02 最平衡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061870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764"/>
                <a:gridCol w="1885950"/>
                <a:gridCol w="1885950"/>
                <a:gridCol w="2200275"/>
                <a:gridCol w="12573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組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停留 RMS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自穿 max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邊長比 max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折到位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base(0/0)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0.358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1.72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edamp 0.02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0.213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1.83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0.05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0.162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2.19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局部拉扯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0.265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3.44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勉強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0.330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16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4.90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ldamp 5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0.332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2.03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  <p:sp>
        <p:nvSpPr>
          <p:cNvPr id="348" name="TextBox 347"/>
          <p:cNvSpPr txBox="1"/>
          <p:nvPr/>
        </p:nvSpPr>
        <p:spPr>
          <a:xfrm>
            <a:off x="566928" y="5228233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停留 RMS:每格頂點位移 mm/格(1/30 s);DAMPING.md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阻尼傷抓取鏈:抓取維持 0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2374798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加阻尼後完整鏈 wall 639 → 約 1160 s;各只跑一次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66928" y="3003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3003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3085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100%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edamp 0:yn 越線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放手後 62%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4358640" y="3003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358640" y="3003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4358640" y="3085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59%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edamp 0.05:yn 越線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放手後 0%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8150352" y="3003194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8150352" y="3003194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8150352" y="3085490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0%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edamp 0.02:yn 越線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夾持中滑 84 mm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速度:dt 1/120 最有效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087270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942"/>
                <a:gridCol w="2040745"/>
                <a:gridCol w="1870683"/>
                <a:gridCol w="2380869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設定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折疊段 wall/sim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整鏈 wall/sim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整鏈 yn 越線 / 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基準(dt 1/240、solver 128)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7.04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7.4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100% / 62%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渲染 640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6.94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dt 1/120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4.37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5.76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100% / 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dt 1/120 + solver 64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3.36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6.02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59% / 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solver 64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4.93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7.90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40% / 0%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  <p:sp>
        <p:nvSpPr>
          <p:cNvPr id="348" name="TextBox 347"/>
          <p:cNvSpPr txBox="1"/>
          <p:nvPr/>
        </p:nvSpPr>
        <p:spPr>
          <a:xfrm>
            <a:off x="566928" y="519013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倍數 = wall ÷ sim(越小越快);vol/speed/*/wrap_vol.log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失敗:dt 1/120 放手後全彈回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綁 14 點,越線 100%,放手後 0%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52.3%(基準 20.0%)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速度品質要整鏈驗,不能只看折疊段</a:t>
            </a:r>
            <a:endParaRPr/>
          </a:p>
        </p:txBody>
      </p:sp>
      <p:pic>
        <p:nvPicPr>
          <p:cNvPr id="347" name="19_dt120_releas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a_dt120 yn 段:越線 100% → 放手後 0%(15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工程:clone 即跑、測試集、demo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66928" y="2085441"/>
            <a:ext cx="3541776" cy="33634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2085441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wyattsheu/sim-forge</a:t>
            </a:r>
          </a:p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sims/fr3_bubblewrap_pack_20261007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USD、手臂 URDF、軌跡都進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28160" y="2085441"/>
            <a:ext cx="3541776" cy="336346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28160" y="2085441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28160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測試集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28160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run_checks.py:10 個 check 函式、23 個檢查項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RUNS.csv 122 列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089391" y="2085441"/>
            <a:ext cx="3541776" cy="33634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089391" y="2085441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089391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089391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work/videos/demo/DEMO_1~5 + DEMO_ALL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make_demo_videos.sh 一鍵產生</a:t>
            </a:r>
          </a:p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DEMO_ALL 263.8 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困難總表:哪裡卡、為什麼、現在怎樣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1806449"/>
          <a:ext cx="11064239" cy="406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293"/>
                <a:gridCol w="3688080"/>
                <a:gridCol w="4097866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卡點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原因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狀態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純摩擦夾不住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網格粗 + 無塑性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✅ 摩擦 + 合指綁定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放手彈回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材料純彈性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✅ 弧線翻到箱外(62%)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gripper 不能綁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Isaac Lab #4628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✅ kinematic 代理方塊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指頭插布 18 mm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指頭盒 36×70×60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🛠️ 細指頭 / 撥布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他片拖動 20~50%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綁定無限剛度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🔄 三條解法進行中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掀開 64% &lt; 80%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手臂可達性 + 皺布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🔄 進行中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布顫抖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阻尼 0 + 自碰撞 + 軟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✅ 展示用 edamp 0.02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材料無塑性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PhysX deformable 無塑性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❌ 仍無解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59" name="Google Shape;359;p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0" name="Google Shape;360;p8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他片拖動:有限剛度 / 第二隻手壓 xp、xn / 只綁上層 三條結果出來後選一條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指頭插布:換細指頭或先撥布,重掃可達性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雙手分工:左手壓、右手掀,對齊 PPT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目標:手臂線 yn 越線 ≥ 80%、他片 &lt; 5%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材料塑性仍無解:持續找 PhysX 替代(Newton deformable 預計 Sim 6.0)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持續:RUNS.csv、測試集、sim-forge 跟著更新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8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下一步:壓他片 → 細指頭或撥布 → 雙手分工 → 掀開 80%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2024-07-03T12:38:17Z</dcterms:created>
  <dc:creator>Isadora Lo</dc:creator>
  <cp:contentStatus>acm-composed</cp:contentStatus>
</cp:coreProperties>
</file>