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900" r:id="rId29"/>
    <p:sldId id="901" r:id="rId30"/>
    <p:sldId id="902" r:id="rId31"/>
    <p:sldId id="903" r:id="rId32"/>
    <p:sldId id="904" r:id="rId33"/>
    <p:sldId id="905" r:id="rId34"/>
    <p:sldId id="906" r:id="rId35"/>
    <p:sldId id="907" r:id="rId36"/>
    <p:sldId id="908" r:id="rId37"/>
    <p:sldId id="909" r:id="rId38"/>
    <p:sldId id="910" r:id="rId39"/>
    <p:sldId id="911" r:id="rId40"/>
    <p:sldId id="912" r:id="rId41"/>
    <p:sldId id="913" r:id="rId42"/>
    <p:sldId id="914" r:id="rId4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gm52GDqHO9yPwcgh1+9sx02TkL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F5020E9-609E-4017-BB34-8560C302F62E}">
  <a:tblStyle styleId="{6F5020E9-609E-4017-BB34-8560C302F62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8" Type="http://customschemas.google.com/relationships/presentationmetadata" Target="metadata"/><Relationship Id="rId29" Type="http://schemas.openxmlformats.org/officeDocument/2006/relationships/slide" Target="slides/slide1.xml"/><Relationship Id="rId30" Type="http://schemas.openxmlformats.org/officeDocument/2006/relationships/slide" Target="slides/slide2.xml"/><Relationship Id="rId31" Type="http://schemas.openxmlformats.org/officeDocument/2006/relationships/slide" Target="slides/slide3.xml"/><Relationship Id="rId32" Type="http://schemas.openxmlformats.org/officeDocument/2006/relationships/slide" Target="slides/slide4.xml"/><Relationship Id="rId33" Type="http://schemas.openxmlformats.org/officeDocument/2006/relationships/slide" Target="slides/slide5.xml"/><Relationship Id="rId34" Type="http://schemas.openxmlformats.org/officeDocument/2006/relationships/slide" Target="slides/slide6.xml"/><Relationship Id="rId35" Type="http://schemas.openxmlformats.org/officeDocument/2006/relationships/slide" Target="slides/slide7.xml"/><Relationship Id="rId36" Type="http://schemas.openxmlformats.org/officeDocument/2006/relationships/slide" Target="slides/slide8.xml"/><Relationship Id="rId37" Type="http://schemas.openxmlformats.org/officeDocument/2006/relationships/slide" Target="slides/slide9.xml"/><Relationship Id="rId38" Type="http://schemas.openxmlformats.org/officeDocument/2006/relationships/slide" Target="slides/slide10.xml"/><Relationship Id="rId39" Type="http://schemas.openxmlformats.org/officeDocument/2006/relationships/slide" Target="slides/slide11.xml"/><Relationship Id="rId40" Type="http://schemas.openxmlformats.org/officeDocument/2006/relationships/slide" Target="slides/slide12.xml"/><Relationship Id="rId41" Type="http://schemas.openxmlformats.org/officeDocument/2006/relationships/slide" Target="slides/slide13.xml"/><Relationship Id="rId42" Type="http://schemas.openxmlformats.org/officeDocument/2006/relationships/slide" Target="slides/slide14.xml"/><Relationship Id="rId43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這個紙箱是別人交付給我們的，實際用滑鼠和手臂去拉蓋子時幾乎拉不動。我先找原因，發現問題不只是彈性係數太大。最主要的是蓋子的轉動慣量被寫死成 0.006 kg·m²，關節又再加了 armature 0.006，加起來大約是真實 15 公克蓋子的 180 倍，所以施力之後蓋子只會很慢地動。影片上面是原本的版本，3 N 只拉到 21 度；下面是把慣量改回由幾何計算之後，同樣的力可以拉到 65 度。另外兩個問題是：預設沒有降伏，只有一個開關式的閂鎖；以及蓋子開到大約 100 度就卡住。接下來我先看文獻裡真實的紙箱摺痕是怎麼受力的，再照文獻重做模型。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這頁比較兩個紙箱。左邊是交付給我們的紙箱，優點是整個場景都接好了：泡泡紙、杯子、手臂、滑鼠拖曳和 ROS 2，但它的蓋子物理有結構性的問題：摺痕是一個很硬的彈簧加上開關式閂鎖，預設沒有降伏；選用的彈塑性版本降伏力矩 0.60 N·m，大約是蓋子自重力矩的 70 倍，滑鼠拉不過去；蓋子的慣量被放大約 180 倍；關節是 maximal joint，角度超過 180 度會跳號，所以卡在 100 度左右。右邊是我之前在 parcel-forge 做的 carton_v1，摺痕是黏塑性模型，有降伏、永久折痕和軟化，用 articulation 可以開到 270 度，慣量由幾何計算，參數也都有文件記錄。它的缺點是只有紙箱本身，而且當時回彈只設 4 度，比文獻的 45 度小很多。所以最後的決定是：保留交付版的整個場景，只把蓋子的物理換成 carton_v1 的摺痕模型，再把參數改成文獻值。原因是交付版的問題出在結構上，調參數解決不了；carton_v1 的結構是對的，只需要校正數值。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我們參考的主要論文是 Nagasawa、Kaneko 和 Adachi 2019 年發表在 Journal of Advanced Mechanical Design, Systems, and Manufacturing 的研究。他們用 0.3 mm 的白紙板，先用壓線刀壓出摺痕，再放到摺痕試驗機上，以每秒 0.2 圈的速度摺到 90 度、停住、再放開，同時量摺痕的彎矩和放開後的角度。右邊是論文的 Fig. 4：壓線時中間的層被壓壞；摺疊時外層被拉長、內層被壓縮鼓起，這就是摺痕彎矩的來源。這篇是我們定量比較的依據。另外 Beex &amp; Peerlings 2009 和 Mentrasti 2013 也量過同樣形狀的曲線，Mentrasti 一路量到 180 度。要先說明的是：論文的材料是紙板，不是瓦楞紙板，瓦楞摺痕的公開量測我沒有找到。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這頁把紙箱摺痕的力學特性整理成八點。一，小角度是彈性，放手會完全回去。二，到了某個彎矩會降伏，論文量到峰值約 0.24 N·m/m，這時中間層脫層。三，降伏後彎矩近乎不變，摺痕繼續轉。四，放手後只彈回一部分，摺到 90 度會停在大約 45 度。五，摺過的摺痕會變軟，第二次比較好摺。六，蓋子自己的重量：90 度以前把它往關的方向壓，過了 90 度變成往開的方向拉。這六點我們的模型都有。七和八是時間相依的行為：摺得越快彎矩越大，但很弱，每 e 倍約 5%；停住時彎矩會隨 ln t 慢慢鬆弛。這兩點我們沒有模擬，後面的比較表會列出來。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模型的部分。每片蓋子是一個剛體，用旋轉摺痕接在箱子上。摺痕彎矩 M_c 等於 k 乘以角度減掉塑性角 θ_p；當彈性彎矩超過降伏彎矩 M_y 時，塑性角會跟著流動，所以蓋子摺到哪裡就留在哪裡，放手後只彈回 M_y 除以 k。這跟我自己 carton_v1 的控制器是同一條定律，只是參數改用文獻值：M_y 取 0.25 N·m/m 乘以摺痕寬度，回彈角取 45 度，所以 k 等於 M_y 除以 45 度。下面那張圖回答老師之前問的，為什麼過了 90 度就變好拗：力矩平衡裡重力那一項是 m g L/2 乘以 cos θ，過了 90 度 cos θ 變成負的，蓋子自己的重量開始幫忙往外開。上層蓋的重量力矩約是降伏力矩的 14%，所以手感上有感。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這頁整理三個症狀和對應的修正。第一個是慣量，改成由幾何計算，只留一點 armature 給數值穩定。第二個是降伏，新寫的 crease_plastic.py 在每個物理步更新塑性角，寫回 USD 關節 drive 的目標角，所以彈性部分由 PhysX 的隱式 drive 處理，很穩定。第三個卡在 100 度有兩個原因：一是我之前為了防泡泡紙穿模加的牆外墊片擋到了蓋子，collision group 在 6.0 沒有把它們濾掉，所以改成逐對過濾；二是一般的 maximal joint 角度只算 ±180 度，超過之後角度跳號，限位就把蓋子甩回去，所以我把整個紙箱改成 articulation，跟 carton_v1 一樣，限位放到 −275 到 +5 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接下來是驗證。我照論文的試驗方式寫了一個 crease_test.py：把箱子夾住，用一個 PD 夾具以每秒 60 度把上層蓋摺到 90 度，停一秒，然後放開，看它停在幾度。論文用的是每秒約 72 度，速度相依性很弱，每變化 e 倍只有約 5%，所以可以比。結果放開之後停在 45.3 度，也就是回彈 44.7 度，落在論文 43 到 46 度的範圍內。畫面上方會即時顯示角度、夾具力矩、摺痕彎矩和塑性角，可以看到放開的瞬間彈性彎矩歸零、塑性角停在大約 50 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左邊是論文原本的 Fig. 8，右邊是我們模擬的結果，座標刻度和標註方式都比照論文，兩張分開放，沒有把資料疊在一起。形狀是一樣的：先上升，到峰值，接著是近乎平穩的平台一直到 90 度，然後卸載。數值上，90 度的彎矩論文是 0.215，我們是 0.219 N·m/m；卸載時彎矩歸零的角度，論文約 46 度，我們是 48.1 度。不一樣的是上升段：論文大約 25 度就到峰值，我們要到 47 度，因為我們的模型只有一個剛性 k，而 k 是由回彈角 45 度決定的；論文的卸載剛性比加載剛性軟，單一剛性沒辦法同時對上兩者。另外論文的卸載是夾具慢慢退回，我們是直接放開，所以我們的卸載線是摺痕自己的彈性彎矩。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這頁比較放手的過程。上面是論文的 Fig. 10，用 CCD 相機拍摺痕的側面：(a) 34 度摺疊中、(b) 89.9 度、(c) 放開的瞬間 46.0 度、(d) 0.42 秒後 42.7 度。下面是我們模擬影片中對應的四個時間點：34 度、停在 88.8 度、放開 0.2 秒後先擺到 39.1 度、最後穩定在 45.3 度。兩邊最後停的角度只差大約 3 度。差別在過程：論文是夾具慢慢退回，所以是單調地慢慢回彈；我們是直接放開，蓋子有慣性，會先擺過頭再回來。尺度也不同：論文拍的是 1 mm 等級的摺痕截面，我們看的是整片蓋子。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定量對照整理成這張表。對得上的有：90 度的彎矩差 2%、卸載時彎矩歸零的角度差約 2 度、放開後停的角度差約 3 度、峰值彎矩的大小、以及重複摺疊會變軟。對不上的有兩個：峰值出現的角度，原因是單一剛性；以及時間相依的鬆弛和蠕變，我們沒有模擬。最重要的前提要再說一次：論文是 0.3 mm 紙板，我們的箱子是瓦楞紙板，所以這張表證明的是我們的行為符合摺痕力學的理論和數量級，不代表瓦楞紙的數值已經校準。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這頁回答之前的問題：為什麼只能開到 90 度左右，真實紙箱應該可以翻到 270 度。改成 articulation 之後，同一個夾具可以一路把蓋子摺到箱壁外側，在 260.8 度碰到箱壁停住。差了大約 9 度是因為原作者把鉸鏈點放在牆的內緣，蓋子還要越過牆的厚度。放開後停在 240 度，回彈只有 30 度，比 90 度時的 45 度小，因為這時候重力是往下拉、在抵抗回彈。這跟受力圖的預測一致。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回到最初的問題：手臂拉不動。這是模擬手臂在蓋子邊緣往上拉的測試，力在 4 秒內從 0 加到 3 牛頓，然後放開。原本 1.53 牛頓才拉開 10 度、3 牛頓只到 21 度；現在 0.29 牛頓就到 10 度、1.43 牛頓到 60 度。放開之後原本會彈回關閉，現在停在 30.6 度，因為摺痕已經降伏。拉不到 90 度不是摺痕的問題，而是力是垂直往上的，蓋子接近直立時力臂趨近於零；真實的手臂會沿著蓋子轉動的方向推。滑鼠的測試結果也類似：上層蓋拉到 80 度，放開停在約 30 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這頁是跟預期不一樣、需要討論的地方。摺痕照文獻變軟之後，搬運測試時包材往上頂加上加速度，上層蓋會被頂開大約 15 度並留在那裡；劇烈甩動時有一片被甩到 73 度。沒封箱的真實紙箱也會這樣，所以我認為是合理的，但如果之後手臂任務需要蓋子保持關著，就要在任務裡處理，例如先封箱，或暫時用舊的閂鎖模式。第二點是下層蓋要等上層蓋翻過 90 度才拉得開，因為上層蓋回彈後還壓在上面，這跟真實紙箱一樣。最大的未知是瓦楞紙板的實際數值，我們借用的是紙板的 0.25 N·m/m，瓦楞紙很可能更硬，這需要拿真箱子量一次。想請老師看看校準的方式是否合理。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總結：這次把紙箱蓋從拉不動、沒有降伏、卡在 100 度，改成照文獻的彈塑性摺痕，90 度的平台彎矩和放開後的回彈角都對得上 Nagasawa 2019 的量測，而且可以一路摺到箱壁外側。下一步最重要的是用推拉力計量真的瓦楞紙箱，校準降伏彎矩和回彈角，只要改兩個參數。第二是交付用的場景要在 Isaac Sim 5.1 的機器上重建，因為這台只有 6.0，用 6.0 建的時候杯子的位置會跑掉。第三和第四是讓模型更貼近文獻的改進，優先度較低。最後需要和使用手臂的同學討論，任務中蓋子應該用哪一種模式。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4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5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標題及內容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/>
          <p:nvPr/>
        </p:nvSpPr>
        <p:spPr>
          <a:xfrm>
            <a:off x="0" y="-6171"/>
            <a:ext cx="12192000" cy="353834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26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標題及內容">
  <p:cSld name="4_標題及內容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7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" name="Google Shape;41;p27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chemeClr val="accent6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7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7"/>
          <p:cNvSpPr txBox="1"/>
          <p:nvPr/>
        </p:nvSpPr>
        <p:spPr>
          <a:xfrm>
            <a:off x="1375645" y="13163"/>
            <a:ext cx="968182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&amp; Motivation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| Current Architecture Recap | Current Status &amp; Results | Discussion Items | Conclusion &amp; Todolist 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標題及內容">
  <p:cSld name="8_標題及內容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8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" name="Google Shape;50;p28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chemeClr val="accent6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8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8"/>
          <p:cNvSpPr txBox="1"/>
          <p:nvPr/>
        </p:nvSpPr>
        <p:spPr>
          <a:xfrm>
            <a:off x="1375645" y="13163"/>
            <a:ext cx="968182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&amp; Motivation |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Architecture Recap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| Current Status &amp; Results | Discussion Items | Conclusion &amp; Todolist 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標題及內容">
  <p:cSld name="9_標題及內容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9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" name="Google Shape;59;p29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chemeClr val="accent6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9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9"/>
          <p:cNvSpPr txBox="1"/>
          <p:nvPr/>
        </p:nvSpPr>
        <p:spPr>
          <a:xfrm>
            <a:off x="1375645" y="13163"/>
            <a:ext cx="968182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&amp; Motivation | Current Architecture Recap |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Status &amp; Results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| Discussion Items | Conclusion &amp; Todolist 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標題及內容">
  <p:cSld name="10_標題及內容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" name="Google Shape;68;p30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chemeClr val="accent6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0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0"/>
          <p:cNvSpPr txBox="1"/>
          <p:nvPr/>
        </p:nvSpPr>
        <p:spPr>
          <a:xfrm>
            <a:off x="1375645" y="13163"/>
            <a:ext cx="968182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&amp; Motivation | Current Architecture Recap | Current Status &amp; Results |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Discussion Items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| Conclusion &amp; Todolist 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標題及內容">
  <p:cSld name="11_標題及內容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" name="Google Shape;77;p31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chemeClr val="accent6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1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1"/>
          <p:cNvSpPr txBox="1"/>
          <p:nvPr/>
        </p:nvSpPr>
        <p:spPr>
          <a:xfrm>
            <a:off x="1375645" y="13163"/>
            <a:ext cx="968182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&amp; Motivation | Current Architecture Recap | Current Status &amp; Results | Discussion Items |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 &amp; Todolist 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>
  <p:cSld name="標題及內容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2"/>
          <p:cNvSpPr/>
          <p:nvPr/>
        </p:nvSpPr>
        <p:spPr>
          <a:xfrm>
            <a:off x="0" y="-6171"/>
            <a:ext cx="12192000" cy="353834"/>
          </a:xfrm>
          <a:prstGeom prst="rect">
            <a:avLst/>
          </a:prstGeom>
          <a:solidFill>
            <a:schemeClr val="accent5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2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7" name="Google Shape;87;p32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Research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標題及內容">
  <p:cSld name="5_標題及內容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3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" name="Google Shape;94;p33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chemeClr val="accent5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3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Research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3"/>
          <p:cNvSpPr txBox="1"/>
          <p:nvPr/>
        </p:nvSpPr>
        <p:spPr>
          <a:xfrm>
            <a:off x="1375645" y="13163"/>
            <a:ext cx="105156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&amp; Motivation 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</a:t>
            </a: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Related Work | 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Architecture Recap | Current Status &amp; Results | Discussion Items | Conclusion &amp; Todolist 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4_標題及內容">
  <p:cSld name="24_標題及內容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3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34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3" name="Google Shape;103;p34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chemeClr val="accent5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4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Research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4"/>
          <p:cNvSpPr txBox="1"/>
          <p:nvPr/>
        </p:nvSpPr>
        <p:spPr>
          <a:xfrm>
            <a:off x="1375645" y="13163"/>
            <a:ext cx="105156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&amp; Motivation |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Related Work 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Current Architecture Recap | Current Status &amp; Results | Discussion Items | Conclusion &amp; Todolist 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標題及內容">
  <p:cSld name="12_標題及內容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3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35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2" name="Google Shape;112;p35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chemeClr val="accent5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5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Research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5"/>
          <p:cNvSpPr txBox="1"/>
          <p:nvPr/>
        </p:nvSpPr>
        <p:spPr>
          <a:xfrm>
            <a:off x="1375645" y="13163"/>
            <a:ext cx="1068088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&amp; Motivation | Related Work |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Architecture Recap 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Current Status &amp; Results | Discussion Items | Conclusion &amp; Todolist 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標題及內容">
  <p:cSld name="13_標題及內容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3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3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1" name="Google Shape;121;p36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chemeClr val="accent5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6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Research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6"/>
          <p:cNvSpPr txBox="1"/>
          <p:nvPr/>
        </p:nvSpPr>
        <p:spPr>
          <a:xfrm>
            <a:off x="1375645" y="13163"/>
            <a:ext cx="1035068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&amp; Motivation | Related Work | Current Architecture Recap |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Status &amp; Results 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Discussion Items | Conclusion &amp; Todolist 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標題及內容">
  <p:cSld name="14_標題及內容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3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37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0" name="Google Shape;130;p37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chemeClr val="accent5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7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Research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7"/>
          <p:cNvSpPr txBox="1"/>
          <p:nvPr/>
        </p:nvSpPr>
        <p:spPr>
          <a:xfrm>
            <a:off x="1375645" y="13163"/>
            <a:ext cx="105156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&amp; Motivation | Related Work | Current Architecture Recap | Current Status &amp; Results |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Discussion Items 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Conclusion &amp; Todolist 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標題及內容">
  <p:cSld name="15_標題及內容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3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6" name="Google Shape;136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8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9" name="Google Shape;139;p38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chemeClr val="accent5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38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Research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38"/>
          <p:cNvSpPr txBox="1"/>
          <p:nvPr/>
        </p:nvSpPr>
        <p:spPr>
          <a:xfrm>
            <a:off x="1375645" y="13163"/>
            <a:ext cx="1072322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&amp; Motivation | Related Work | Current Architecture Recap | Current Status &amp; Results | Discussion Items |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 &amp; Todolist 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標題及內容">
  <p:cSld name="1_標題及內容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9"/>
          <p:cNvSpPr/>
          <p:nvPr/>
        </p:nvSpPr>
        <p:spPr>
          <a:xfrm>
            <a:off x="0" y="-6171"/>
            <a:ext cx="12192000" cy="353834"/>
          </a:xfrm>
          <a:prstGeom prst="rect">
            <a:avLst/>
          </a:prstGeom>
          <a:solidFill>
            <a:srgbClr val="C198E0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3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39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9" name="Google Shape;149;p39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Paper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標題及內容">
  <p:cSld name="6_標題及內容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4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3" name="Google Shape;153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40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6" name="Google Shape;156;p40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rgbClr val="C198E0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0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Paper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0"/>
          <p:cNvSpPr txBox="1"/>
          <p:nvPr/>
        </p:nvSpPr>
        <p:spPr>
          <a:xfrm>
            <a:off x="1375645" y="13163"/>
            <a:ext cx="968182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 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Related work | Proposed Method | Experimental Results | Conclusion</a:t>
            </a:r>
            <a:endParaRPr b="0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標題及內容">
  <p:cSld name="16_標題及內容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4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2" name="Google Shape;162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41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5" name="Google Shape;165;p41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rgbClr val="C198E0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41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Paper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1"/>
          <p:cNvSpPr txBox="1"/>
          <p:nvPr/>
        </p:nvSpPr>
        <p:spPr>
          <a:xfrm>
            <a:off x="1375645" y="13163"/>
            <a:ext cx="968182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Related work 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Proposed Method | Experimental Results | Conclusion</a:t>
            </a:r>
            <a:endParaRPr b="0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標題及內容">
  <p:cSld name="17_標題及內容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4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1" name="Google Shape;171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42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4" name="Google Shape;174;p42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rgbClr val="C198E0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2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Paper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42"/>
          <p:cNvSpPr txBox="1"/>
          <p:nvPr/>
        </p:nvSpPr>
        <p:spPr>
          <a:xfrm>
            <a:off x="1375645" y="13163"/>
            <a:ext cx="968182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Related work |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Proposed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| Experimental Results | Conclusion</a:t>
            </a:r>
            <a:endParaRPr b="0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標題及內容">
  <p:cSld name="18_標題及內容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4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0" name="Google Shape;180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43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3" name="Google Shape;183;p43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rgbClr val="C198E0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43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Paper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43"/>
          <p:cNvSpPr txBox="1"/>
          <p:nvPr/>
        </p:nvSpPr>
        <p:spPr>
          <a:xfrm>
            <a:off x="1375645" y="13163"/>
            <a:ext cx="968182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 | Related work | Proposed Method |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Experimental Results 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Conclusion</a:t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標題及內容">
  <p:cSld name="19_標題及內容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4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9" name="Google Shape;189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44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2" name="Google Shape;192;p44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rgbClr val="C198E0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44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Paper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44"/>
          <p:cNvSpPr txBox="1"/>
          <p:nvPr/>
        </p:nvSpPr>
        <p:spPr>
          <a:xfrm>
            <a:off x="1375645" y="13163"/>
            <a:ext cx="968182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Related work | Proposed Method | Experimental Results |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標題及內容">
  <p:cSld name="3_標題及內容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5"/>
          <p:cNvSpPr/>
          <p:nvPr/>
        </p:nvSpPr>
        <p:spPr>
          <a:xfrm>
            <a:off x="0" y="-6171"/>
            <a:ext cx="12192000" cy="353834"/>
          </a:xfrm>
          <a:prstGeom prst="rect">
            <a:avLst/>
          </a:prstGeom>
          <a:solidFill>
            <a:srgbClr val="F89AB5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4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4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9" name="Google Shape;199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45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2" name="Google Shape;202;p45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Others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標題及內容">
  <p:cSld name="7_標題及內容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4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6" name="Google Shape;206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4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9" name="Google Shape;209;p46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rgbClr val="F89AB5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46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Others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46"/>
          <p:cNvSpPr txBox="1"/>
          <p:nvPr/>
        </p:nvSpPr>
        <p:spPr>
          <a:xfrm>
            <a:off x="1375645" y="13163"/>
            <a:ext cx="968182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&amp; Motivation 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Current Architecture Recap | Current Status &amp; Results | Discussion Items | Conclusion &amp; Todolist </a:t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_標題及內容">
  <p:cSld name="20_標題及內容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4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5" name="Google Shape;215;p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47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8" name="Google Shape;218;p47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rgbClr val="F89AB5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47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Others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47"/>
          <p:cNvSpPr txBox="1"/>
          <p:nvPr/>
        </p:nvSpPr>
        <p:spPr>
          <a:xfrm>
            <a:off x="1375645" y="13163"/>
            <a:ext cx="968182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&amp; Motivation |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Architecture Recap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| Current Status &amp; Results | Discussion Items | Conclusion &amp; Todolist 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1_標題及內容">
  <p:cSld name="21_標題及內容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4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4" name="Google Shape;224;p4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48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7" name="Google Shape;227;p48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rgbClr val="F89AB5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48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Others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48"/>
          <p:cNvSpPr txBox="1"/>
          <p:nvPr/>
        </p:nvSpPr>
        <p:spPr>
          <a:xfrm>
            <a:off x="1375645" y="13163"/>
            <a:ext cx="968182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&amp; Motivation | Current Architecture Recap |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Status &amp; Results 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Discussion Items | Conclusion &amp; Todolist </a:t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_標題及內容">
  <p:cSld name="22_標題及內容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4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3" name="Google Shape;233;p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49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6" name="Google Shape;236;p49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rgbClr val="F89AB5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49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Others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49"/>
          <p:cNvSpPr txBox="1"/>
          <p:nvPr/>
        </p:nvSpPr>
        <p:spPr>
          <a:xfrm>
            <a:off x="1375645" y="13163"/>
            <a:ext cx="968182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&amp; Motivation | Current Architecture Recap | Current Status &amp; Results |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Discussion Items 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Conclusion &amp; Todolist </a:t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3_標題及內容">
  <p:cSld name="23_標題及內容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5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5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2" name="Google Shape;242;p5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3" name="Google Shape;243;p5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50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5" name="Google Shape;245;p50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rgbClr val="F89AB5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50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Others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50"/>
          <p:cNvSpPr txBox="1"/>
          <p:nvPr/>
        </p:nvSpPr>
        <p:spPr>
          <a:xfrm>
            <a:off x="1375645" y="13163"/>
            <a:ext cx="968182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&amp; Motivation | Current Architecture Recap | Current Status &amp; Results | Discussion Items |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 &amp; Todolist </a:t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個內容" type="twoObj">
  <p:cSld name="TWO_OBJECTS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5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5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1" name="Google Shape;251;p5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2" name="Google Shape;252;p5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5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51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5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5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58" name="Google Shape;258;p5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9" name="Google Shape;259;p5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60" name="Google Shape;260;p5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1" name="Google Shape;261;p5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p5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52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5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p5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5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8" name="Google Shape;268;p53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5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5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54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內容" type="objTx">
  <p:cSld name="OBJECT_WITH_CAPTION_TEXT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5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5" name="Google Shape;275;p5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76" name="Google Shape;276;p5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77" name="Google Shape;277;p5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8" name="Google Shape;278;p5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55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圖片" type="picTx">
  <p:cSld name="PICTURE_WITH_CAPTION_TEXT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5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p5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83" name="Google Shape;283;p5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84" name="Google Shape;284;p5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5" name="Google Shape;285;p5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5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5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9" name="Google Shape;289;p5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0" name="Google Shape;290;p5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1" name="Google Shape;291;p5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p57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5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5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6" name="Google Shape;296;p5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7" name="Google Shape;297;p5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58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3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microsoft.com/office/2007/relationships/media" Target="../media/media2.mp4"/><Relationship Id="rId4" Type="http://schemas.openxmlformats.org/officeDocument/2006/relationships/video" Target="../media/media2.mp4"/><Relationship Id="rId5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microsoft.com/office/2007/relationships/media" Target="../media/media3.mp4"/><Relationship Id="rId4" Type="http://schemas.openxmlformats.org/officeDocument/2006/relationships/video" Target="../media/media3.mp4"/><Relationship Id="rId5" Type="http://schemas.openxmlformats.org/officeDocument/2006/relationships/image" Target="../media/image9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microsoft.com/office/2007/relationships/media" Target="../media/media4.mp4"/><Relationship Id="rId4" Type="http://schemas.openxmlformats.org/officeDocument/2006/relationships/video" Target="../media/media4.mp4"/><Relationship Id="rId5" Type="http://schemas.openxmlformats.org/officeDocument/2006/relationships/image" Target="../media/image10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"/>
          <p:cNvSpPr txBox="1"/>
          <p:nvPr/>
        </p:nvSpPr>
        <p:spPr>
          <a:xfrm>
            <a:off x="779139" y="1671684"/>
            <a:ext cx="10653600" cy="20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Carton Crease Mechanics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2026.10.10</a:t>
            </a:r>
            <a:endParaRPr/>
          </a:p>
        </p:txBody>
      </p:sp>
      <p:pic>
        <p:nvPicPr>
          <p:cNvPr id="305" name="Google Shape;30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94401" y="2487781"/>
            <a:ext cx="1938338" cy="1418297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1"/>
          <p:cNvSpPr txBox="1"/>
          <p:nvPr/>
        </p:nvSpPr>
        <p:spPr>
          <a:xfrm>
            <a:off x="779139" y="4254489"/>
            <a:ext cx="5515732" cy="15064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FKai-SB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Advisor: Prof. Huang Ching-Chun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FKai-SB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Student: Huai-Jen Hsu (Wyatt)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7" name="Google Shape;307;p1"/>
          <p:cNvCxnSpPr/>
          <p:nvPr/>
        </p:nvCxnSpPr>
        <p:spPr>
          <a:xfrm>
            <a:off x="849939" y="3916017"/>
            <a:ext cx="10492122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Original lids: no yield, stuck at 100°</a:t>
            </a:r>
            <a:endParaRPr/>
          </a:p>
        </p:txBody>
      </p:sp>
      <p:sp>
        <p:nvSpPr>
          <p:cNvPr id="331" name="Google Shape;331;p4"/>
          <p:cNvSpPr txBox="1"/>
          <p:nvPr>
            <p:ph idx="1" type="body"/>
          </p:nvPr>
        </p:nvSpPr>
        <p:spPr>
          <a:xfrm>
            <a:off x="841248" y="1572768"/>
            <a:ext cx="5257800" cy="46451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Arm pull at flap edge: 1.53 N → only 10°</a:t>
            </a:r>
            <a:endParaRPr/>
          </a:p>
          <a:p>
            <a:pPr indent="-28575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Flap inertia authored ~180× real (0.006 kg·m² + armature)</a:t>
            </a:r>
            <a:endParaRPr/>
          </a:p>
          <a:p>
            <a:pPr indent="-28575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No yield by default: open/shut latch only</a:t>
            </a:r>
            <a:endParaRPr/>
          </a:p>
          <a:p>
            <a:pPr indent="-28575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Lids stop at ~100°: wall pads + ±180° joint wrap</a:t>
            </a:r>
            <a:endParaRPr/>
          </a:p>
        </p:txBody>
      </p:sp>
      <p:sp>
        <p:nvSpPr>
          <p:cNvPr id="332" name="Google Shape;332;p4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33" name="pull_fyp_before_after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075932" y="1572768"/>
            <a:ext cx="3852671" cy="4334256"/>
          </a:xfrm>
          <a:prstGeom prst="rect">
            <a:avLst/>
          </a:prstGeom>
        </p:spPr>
      </p:pic>
      <p:sp>
        <p:nvSpPr>
          <p:cNvPr id="334" name="Rounded Rectangle 333"/>
          <p:cNvSpPr/>
          <p:nvPr/>
        </p:nvSpPr>
        <p:spPr>
          <a:xfrm>
            <a:off x="7167372" y="5541264"/>
            <a:ext cx="932688" cy="2743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wrap="none" lIns="54864" rIns="54864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▶ 0:07</a:t>
            </a:r>
          </a:p>
        </p:txBody>
      </p:sp>
      <p:sp>
        <p:nvSpPr>
          <p:cNvPr id="335" name="TextBox 334"/>
          <p:cNvSpPr txBox="1"/>
          <p:nvPr/>
        </p:nvSpPr>
        <p:spPr>
          <a:xfrm>
            <a:off x="6373368" y="5961888"/>
            <a:ext cx="5257800" cy="31089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ctr"/>
            <a:r>
              <a:rPr sz="1100" b="0" i="1">
                <a:solidFill>
                  <a:srgbClr val="595959"/>
                </a:solidFill>
              </a:rPr>
              <a:t>Same 3 N pull. Top: original carton (21°). Bottom: real flap inertia (65°)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 repeatCount="indefinite">
                  <p:stCondLst>
                    <p:cond delay="0"/>
                  </p:stCondLst>
                </p:cTn>
                <p:tgtEl>
                  <p:spTgt spid="333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Delivered carton vs my carton_v1</a:t>
            </a:r>
            <a:endParaRPr/>
          </a:p>
        </p:txBody>
      </p:sp>
      <p:sp>
        <p:nvSpPr>
          <p:cNvPr id="331" name="Google Shape;331;p4"/>
          <p:cNvSpPr txBox="1"/>
          <p:nvPr>
            <p:ph idx="1" type="body"/>
          </p:nvPr>
        </p:nvSpPr>
        <p:spPr>
          <a:xfrm>
            <a:off x="841248" y="1572768"/>
            <a:ext cx="10515600" cy="376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endParaRPr/>
          </a:p>
        </p:txBody>
      </p:sp>
      <p:sp>
        <p:nvSpPr>
          <p:cNvPr id="332" name="Google Shape;332;p4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333" name="Table 332"/>
          <p:cNvGraphicFramePr>
            <a:graphicFrameLocks noGrp="1"/>
          </p:cNvGraphicFramePr>
          <p:nvPr/>
        </p:nvGraphicFramePr>
        <p:xfrm>
          <a:off x="841248" y="1572768"/>
          <a:ext cx="10515600" cy="2578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368372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73152" marR="73152">
                    <a:solidFill>
                      <a:srgbClr val="3E4A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Delivered carton (handoff)</a:t>
                      </a:r>
                    </a:p>
                  </a:txBody>
                  <a:tcPr anchor="ctr" marL="73152" marR="73152">
                    <a:solidFill>
                      <a:srgbClr val="3E4A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My carton_v1 (parcel-forge)</a:t>
                      </a:r>
                    </a:p>
                  </a:txBody>
                  <a:tcPr anchor="ctr" marL="73152" marR="73152">
                    <a:solidFill>
                      <a:srgbClr val="3E4A5B"/>
                    </a:solidFill>
                  </a:tcPr>
                </a:tc>
              </a:tr>
              <a:tr h="368372">
                <a:tc>
                  <a:txBody>
                    <a:bodyPr/>
                    <a:lstStyle/>
                    <a:p>
                      <a:pPr algn="l"/>
                      <a:r>
                        <a:rPr sz="1250" b="0"/>
                        <a:t>Crease model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/>
                        <a:t>Stiff spring 0.69 N·m/rad + open/shut latch; optional yield 0.60 N·m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/>
                        <a:t>Viscoplastic: yield, plastic set, softening</a:t>
                      </a:r>
                    </a:p>
                  </a:txBody>
                  <a:tcPr anchor="ctr" marL="73152" marR="73152">
                    <a:noFill/>
                  </a:tcPr>
                </a:tc>
              </a:tr>
              <a:tr h="368372">
                <a:tc>
                  <a:txBody>
                    <a:bodyPr/>
                    <a:lstStyle/>
                    <a:p>
                      <a:pPr algn="l"/>
                      <a:r>
                        <a:rPr sz="1250" b="0"/>
                        <a:t>Joints / range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/>
                        <a:t>Maximal joints wrap at ±180° → stuck ~100°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/>
                        <a:t>Articulation, −5…270°</a:t>
                      </a:r>
                    </a:p>
                  </a:txBody>
                  <a:tcPr anchor="ctr" marL="73152" marR="73152">
                    <a:noFill/>
                  </a:tcPr>
                </a:tc>
              </a:tr>
              <a:tr h="368372">
                <a:tc>
                  <a:txBody>
                    <a:bodyPr/>
                    <a:lstStyle/>
                    <a:p>
                      <a:pPr algn="l"/>
                      <a:r>
                        <a:rPr sz="1250" b="0"/>
                        <a:t>Flap inertia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/>
                        <a:t>Authored 0.006 + armature 0.006 (~180× real)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/>
                        <a:t>From geometry</a:t>
                      </a:r>
                    </a:p>
                  </a:txBody>
                  <a:tcPr anchor="ctr" marL="73152" marR="73152">
                    <a:noFill/>
                  </a:tcPr>
                </a:tc>
              </a:tr>
              <a:tr h="368372">
                <a:tc>
                  <a:txBody>
                    <a:bodyPr/>
                    <a:lstStyle/>
                    <a:p>
                      <a:pPr algn="l"/>
                      <a:r>
                        <a:rPr sz="1250" b="0"/>
                        <a:t>Parameters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/>
                        <a:t>Tuned for numerical stability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/>
                        <a:t>Documented; B-flute literature</a:t>
                      </a:r>
                    </a:p>
                  </a:txBody>
                  <a:tcPr anchor="ctr" marL="73152" marR="73152">
                    <a:noFill/>
                  </a:tcPr>
                </a:tc>
              </a:tr>
              <a:tr h="368372">
                <a:tc>
                  <a:txBody>
                    <a:bodyPr/>
                    <a:lstStyle/>
                    <a:p>
                      <a:pPr algn="l"/>
                      <a:r>
                        <a:rPr sz="1250" b="0"/>
                        <a:t>Strength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/>
                        <a:t>Full scene: wrap, mug, arms, mouse, ROS 2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/>
                        <a:t>Physically structured, calibratable</a:t>
                      </a:r>
                    </a:p>
                  </a:txBody>
                  <a:tcPr anchor="ctr" marL="73152" marR="73152">
                    <a:noFill/>
                  </a:tcPr>
                </a:tc>
              </a:tr>
              <a:tr h="368376">
                <a:tc>
                  <a:txBody>
                    <a:bodyPr/>
                    <a:lstStyle/>
                    <a:p>
                      <a:pPr algn="l"/>
                      <a:r>
                        <a:rPr sz="1250" b="0"/>
                        <a:t>Weakness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/>
                        <a:t>Lids cannot open realistically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/>
                        <a:t>Carton only; spring-back 4° (lit. ~45°)</a:t>
                      </a:r>
                    </a:p>
                  </a:txBody>
                  <a:tcPr anchor="ctr" marL="73152" marR="73152">
                    <a:noFill/>
                  </a:tcPr>
                </a:tc>
              </a:tr>
            </a:tbl>
          </a:graphicData>
        </a:graphic>
      </p:graphicFrame>
      <p:sp>
        <p:nvSpPr>
          <p:cNvPr id="334" name="Rounded Rectangle 333"/>
          <p:cNvSpPr/>
          <p:nvPr/>
        </p:nvSpPr>
        <p:spPr>
          <a:xfrm>
            <a:off x="566928" y="5504688"/>
            <a:ext cx="11064240" cy="713232"/>
          </a:xfrm>
          <a:prstGeom prst="roundRect">
            <a:avLst/>
          </a:prstGeom>
          <a:noFill/>
          <a:ln w="19050">
            <a:solidFill>
              <a:srgbClr val="C00000"/>
            </a:solidFill>
          </a:ln>
          <a:effectLst/>
        </p:spPr>
        <p:txBody>
          <a:bodyPr rtlCol="0" anchor="ctr" wrap="square" lIns="146304" rIns="146304"/>
          <a:lstStyle/>
          <a:p>
            <a:pPr algn="l"/>
            <a:r>
              <a:rPr sz="1500" b="1">
                <a:solidFill>
                  <a:srgbClr val="C00000"/>
                </a:solidFill>
              </a:rPr>
              <a:t>Decision:  </a:t>
            </a:r>
            <a:r>
              <a:rPr sz="1500">
                <a:solidFill>
                  <a:srgbClr val="1A1A1A"/>
                </a:solidFill>
              </a:rPr>
              <a:t>Keep the delivered scene; replace its lid physics with carton_v1's crease model and literature parameters.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"/>
          <p:cNvSpPr txBox="1"/>
          <p:nvPr>
            <p:ph type="title"/>
          </p:nvPr>
        </p:nvSpPr>
        <p:spPr>
          <a:xfrm>
            <a:off x="841248" y="256032"/>
            <a:ext cx="10515600" cy="7863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Reference: Nagasawa et al., JAMDSM 2019</a:t>
            </a:r>
            <a:endParaRPr/>
          </a:p>
        </p:txBody>
      </p:sp>
      <p:sp>
        <p:nvSpPr>
          <p:cNvPr id="338" name="Google Shape;338;p5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9" name="Google Shape;339;p5"/>
          <p:cNvSpPr txBox="1"/>
          <p:nvPr>
            <p:ph idx="1" type="body"/>
          </p:nvPr>
        </p:nvSpPr>
        <p:spPr>
          <a:xfrm>
            <a:off x="841248" y="1627632"/>
            <a:ext cx="1051560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0.3 mm white-coated paperboard, scored; folded to 90° at 0.2 rps, held, released</a:t>
            </a:r>
            <a:endParaRPr/>
          </a:p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Measures moment M(θ) and release angle — our quantitative reference</a:t>
            </a:r>
            <a:endParaRPr/>
          </a:p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Same curve shape: Beex &amp; Peerlings 2009; Mentrasti et al. 2013</a:t>
            </a:r>
            <a:endParaRPr/>
          </a:p>
        </p:txBody>
      </p:sp>
      <p:sp>
        <p:nvSpPr>
          <p:cNvPr id="340" name="TextBox 339"/>
          <p:cNvSpPr txBox="1"/>
          <p:nvPr/>
        </p:nvSpPr>
        <p:spPr>
          <a:xfrm>
            <a:off x="868680" y="1060704"/>
            <a:ext cx="10515600" cy="40233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l"/>
            <a:r>
              <a:rPr sz="1800" b="0" i="0">
                <a:solidFill>
                  <a:srgbClr val="C00000"/>
                </a:solidFill>
              </a:rPr>
              <a:t>Creased paperboard folded on a crease tester: moment–angle curve and release angle</a:t>
            </a:r>
          </a:p>
        </p:txBody>
      </p:sp>
      <p:pic>
        <p:nvPicPr>
          <p:cNvPr id="341" name="Picture 340" descr="nagasawa_fig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3663" y="3429000"/>
            <a:ext cx="9670768" cy="2478023"/>
          </a:xfrm>
          <a:prstGeom prst="rect">
            <a:avLst/>
          </a:prstGeom>
        </p:spPr>
      </p:pic>
      <p:sp>
        <p:nvSpPr>
          <p:cNvPr id="342" name="TextBox 341"/>
          <p:cNvSpPr txBox="1"/>
          <p:nvPr/>
        </p:nvSpPr>
        <p:spPr>
          <a:xfrm>
            <a:off x="566928" y="5961887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ctr"/>
            <a:r>
              <a:rPr sz="1100" b="0" i="1">
                <a:solidFill>
                  <a:srgbClr val="595959"/>
                </a:solidFill>
              </a:rPr>
              <a:t>Fig. 4: scoring damages the plies (a); folding stretches the outer layer and bulges the inner ones (b)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Carton crease mechanics at a glance</a:t>
            </a:r>
            <a:endParaRPr/>
          </a:p>
        </p:txBody>
      </p:sp>
      <p:sp>
        <p:nvSpPr>
          <p:cNvPr id="338" name="Google Shape;338;p5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9" name="Google Shape;339;p5"/>
          <p:cNvSpPr txBox="1"/>
          <p:nvPr>
            <p:ph idx="1" type="body"/>
          </p:nvPr>
        </p:nvSpPr>
        <p:spPr>
          <a:xfrm>
            <a:off x="841248" y="157276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endParaRPr/>
          </a:p>
        </p:txBody>
      </p:sp>
      <p:pic>
        <p:nvPicPr>
          <p:cNvPr id="340" name="Picture 339" descr="mechanics_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3681" y="1572768"/>
            <a:ext cx="9770733" cy="4334256"/>
          </a:xfrm>
          <a:prstGeom prst="rect">
            <a:avLst/>
          </a:prstGeom>
        </p:spPr>
      </p:pic>
      <p:sp>
        <p:nvSpPr>
          <p:cNvPr id="341" name="TextBox 340"/>
          <p:cNvSpPr txBox="1"/>
          <p:nvPr/>
        </p:nvSpPr>
        <p:spPr>
          <a:xfrm>
            <a:off x="566928" y="5961888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ctr"/>
            <a:r>
              <a:rPr sz="1100" b="0" i="1">
                <a:solidFill>
                  <a:srgbClr val="595959"/>
                </a:solidFill>
              </a:rPr>
              <a:t>Eight properties of a creased carton flap; values from Nagasawa 2019 (paperboard). Six are in our model.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Elastic–plastic crease + flap moment balance</a:t>
            </a:r>
            <a:endParaRPr/>
          </a:p>
        </p:txBody>
      </p:sp>
      <p:sp>
        <p:nvSpPr>
          <p:cNvPr id="338" name="Google Shape;338;p5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9" name="Google Shape;339;p5"/>
          <p:cNvSpPr txBox="1"/>
          <p:nvPr>
            <p:ph idx="1" type="body"/>
          </p:nvPr>
        </p:nvSpPr>
        <p:spPr>
          <a:xfrm>
            <a:off x="841248" y="157276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endParaRPr/>
          </a:p>
        </p:txBody>
      </p:sp>
      <p:pic>
        <p:nvPicPr>
          <p:cNvPr id="340" name="Picture 339" descr="model_e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794" y="1572768"/>
            <a:ext cx="9488506" cy="4334256"/>
          </a:xfrm>
          <a:prstGeom prst="rect">
            <a:avLst/>
          </a:prstGeom>
        </p:spPr>
      </p:pic>
      <p:sp>
        <p:nvSpPr>
          <p:cNvPr id="341" name="TextBox 340"/>
          <p:cNvSpPr txBox="1"/>
          <p:nvPr/>
        </p:nvSpPr>
        <p:spPr>
          <a:xfrm>
            <a:off x="566928" y="5961888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ctr"/>
            <a:r>
              <a:rPr sz="1100" b="0" i="1">
                <a:solidFill>
                  <a:srgbClr val="595959"/>
                </a:solidFill>
              </a:rPr>
              <a:t>Same law as carton_v1 (crease_model.advance); M_y0 = 0.25 N·m/m × width, k = M_y0 / 45°, s = 0.15 /rad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Three causes, three fixes</a:t>
            </a:r>
            <a:endParaRPr/>
          </a:p>
        </p:txBody>
      </p:sp>
      <p:sp>
        <p:nvSpPr>
          <p:cNvPr id="338" name="Google Shape;338;p5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9" name="Google Shape;339;p5"/>
          <p:cNvSpPr txBox="1"/>
          <p:nvPr>
            <p:ph idx="1" type="body"/>
          </p:nvPr>
        </p:nvSpPr>
        <p:spPr>
          <a:xfrm>
            <a:off x="841248" y="1572768"/>
            <a:ext cx="10515600" cy="46451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endParaRPr/>
          </a:p>
        </p:txBody>
      </p:sp>
      <p:graphicFrame>
        <p:nvGraphicFramePr>
          <p:cNvPr id="340" name="Table 339"/>
          <p:cNvGraphicFramePr>
            <a:graphicFrameLocks noGrp="1"/>
          </p:cNvGraphicFramePr>
          <p:nvPr/>
        </p:nvGraphicFramePr>
        <p:xfrm>
          <a:off x="841248" y="1572768"/>
          <a:ext cx="10515600" cy="1481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37033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Symptom</a:t>
                      </a:r>
                    </a:p>
                  </a:txBody>
                  <a:tcPr anchor="ctr" marL="73152" marR="73152">
                    <a:solidFill>
                      <a:srgbClr val="3E4A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Cause</a:t>
                      </a:r>
                    </a:p>
                  </a:txBody>
                  <a:tcPr anchor="ctr" marL="73152" marR="73152">
                    <a:solidFill>
                      <a:srgbClr val="3E4A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Fix</a:t>
                      </a:r>
                    </a:p>
                  </a:txBody>
                  <a:tcPr anchor="ctr" marL="73152" marR="73152">
                    <a:solidFill>
                      <a:srgbClr val="3E4A5B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algn="l"/>
                      <a:r>
                        <a:rPr sz="1250" b="0"/>
                        <a:t>Lids barely move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/>
                        <a:t>Flap inertia ~180× real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/>
                        <a:t>Inertia from geometry, armature 2e-4</a:t>
                      </a:r>
                    </a:p>
                  </a:txBody>
                  <a:tcPr anchor="ctr" marL="73152" marR="73152">
                    <a:noFill/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algn="l"/>
                      <a:r>
                        <a:rPr sz="1250" b="1"/>
                        <a:t>No permanent fold</a:t>
                      </a:r>
                    </a:p>
                  </a:txBody>
                  <a:tcPr anchor="ctr" marL="73152" marR="73152">
                    <a:solidFill>
                      <a:srgbClr val="E8F2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/>
                        <a:t>Open/shut latch only</a:t>
                      </a:r>
                    </a:p>
                  </a:txBody>
                  <a:tcPr anchor="ctr" marL="73152" marR="73152">
                    <a:solidFill>
                      <a:srgbClr val="E8F2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/>
                        <a:t>crease_plastic.py: plastic set updated every physics step</a:t>
                      </a:r>
                    </a:p>
                  </a:txBody>
                  <a:tcPr anchor="ctr" marL="73152" marR="73152">
                    <a:solidFill>
                      <a:srgbClr val="E8F2E1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algn="l"/>
                      <a:r>
                        <a:rPr sz="1250" b="0"/>
                        <a:t>Stuck at ~100°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/>
                        <a:t>Wall pads hit flaps; joints wrap at ±180°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/>
                        <a:t>Pad↔flap filtered pairs; carton as articulation, limits −275…+5°</a:t>
                      </a:r>
                    </a:p>
                  </a:txBody>
                  <a:tcPr anchor="ctr" marL="73152" marR="73152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"/>
          <p:cNvSpPr txBox="1"/>
          <p:nvPr>
            <p:ph type="title"/>
          </p:nvPr>
        </p:nvSpPr>
        <p:spPr>
          <a:xfrm>
            <a:off x="841248" y="256032"/>
            <a:ext cx="10515600" cy="7863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Fold to 90°, release: flap rests at 45.3°</a:t>
            </a:r>
            <a:endParaRPr/>
          </a:p>
        </p:txBody>
      </p:sp>
      <p:sp>
        <p:nvSpPr>
          <p:cNvPr id="345" name="Google Shape;345;p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p6"/>
          <p:cNvSpPr txBox="1"/>
          <p:nvPr>
            <p:ph idx="1" type="body"/>
          </p:nvPr>
        </p:nvSpPr>
        <p:spPr>
          <a:xfrm>
            <a:off x="841248" y="157276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endParaRPr/>
          </a:p>
        </p:txBody>
      </p:sp>
      <p:sp>
        <p:nvSpPr>
          <p:cNvPr id="347" name="TextBox 346"/>
          <p:cNvSpPr txBox="1"/>
          <p:nvPr/>
        </p:nvSpPr>
        <p:spPr>
          <a:xfrm>
            <a:off x="841248" y="1060704"/>
            <a:ext cx="10515600" cy="804672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</a:rPr>
              <a:t>Paper: 90° fold releases to 43–46° — ours springs back 44.7°</a:t>
            </a:r>
          </a:p>
        </p:txBody>
      </p:sp>
      <p:pic>
        <p:nvPicPr>
          <p:cNvPr id="348" name="crease_fold90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555240" y="1920240"/>
            <a:ext cx="7087615" cy="3986783"/>
          </a:xfrm>
          <a:prstGeom prst="rect">
            <a:avLst/>
          </a:prstGeom>
        </p:spPr>
      </p:pic>
      <p:sp>
        <p:nvSpPr>
          <p:cNvPr id="349" name="Rounded Rectangle 348"/>
          <p:cNvSpPr/>
          <p:nvPr/>
        </p:nvSpPr>
        <p:spPr>
          <a:xfrm>
            <a:off x="2646680" y="5541264"/>
            <a:ext cx="932688" cy="2743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wrap="none" lIns="54864" rIns="54864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▶ 0:05</a:t>
            </a:r>
          </a:p>
        </p:txBody>
      </p:sp>
      <p:sp>
        <p:nvSpPr>
          <p:cNvPr id="350" name="TextBox 349"/>
          <p:cNvSpPr txBox="1"/>
          <p:nvPr/>
        </p:nvSpPr>
        <p:spPr>
          <a:xfrm>
            <a:off x="566928" y="5961887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ctr"/>
            <a:r>
              <a:rPr sz="1100" b="0" i="1">
                <a:solidFill>
                  <a:srgbClr val="595959"/>
                </a:solidFill>
              </a:rPr>
              <a:t>Crease-tester protocol: carton clamped, PD fixture folds fyp at 60°/s to 90°, holds 1 s, releases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 repeatCount="indefinite">
                  <p:stCondLst>
                    <p:cond delay="0"/>
                  </p:stCondLst>
                </p:cTn>
                <p:tgtEl>
                  <p:spTgt spid="348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"/>
          <p:cNvSpPr txBox="1"/>
          <p:nvPr>
            <p:ph type="title"/>
          </p:nvPr>
        </p:nvSpPr>
        <p:spPr>
          <a:xfrm>
            <a:off x="841248" y="256032"/>
            <a:ext cx="10515600" cy="7863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Moment–angle: paper Fig. 8 vs ours</a:t>
            </a:r>
            <a:endParaRPr/>
          </a:p>
        </p:txBody>
      </p:sp>
      <p:sp>
        <p:nvSpPr>
          <p:cNvPr id="345" name="Google Shape;345;p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p6"/>
          <p:cNvSpPr txBox="1"/>
          <p:nvPr>
            <p:ph idx="1" type="body"/>
          </p:nvPr>
        </p:nvSpPr>
        <p:spPr>
          <a:xfrm>
            <a:off x="841248" y="157276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endParaRPr/>
          </a:p>
        </p:txBody>
      </p:sp>
      <p:sp>
        <p:nvSpPr>
          <p:cNvPr id="347" name="TextBox 346"/>
          <p:cNvSpPr txBox="1"/>
          <p:nvPr/>
        </p:nvSpPr>
        <p:spPr>
          <a:xfrm>
            <a:off x="841248" y="1060704"/>
            <a:ext cx="10515600" cy="804672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</a:rPr>
              <a:t>Same shape: rise, peak, plateau, unload; M90 0.215 vs 0.219 N·m/m</a:t>
            </a:r>
          </a:p>
        </p:txBody>
      </p:sp>
      <p:pic>
        <p:nvPicPr>
          <p:cNvPr id="348" name="Picture 347" descr="cmp_fig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128740"/>
            <a:ext cx="11064240" cy="3569783"/>
          </a:xfrm>
          <a:prstGeom prst="rect">
            <a:avLst/>
          </a:prstGeom>
        </p:spPr>
      </p:pic>
      <p:sp>
        <p:nvSpPr>
          <p:cNvPr id="349" name="TextBox 348"/>
          <p:cNvSpPr txBox="1"/>
          <p:nvPr/>
        </p:nvSpPr>
        <p:spPr>
          <a:xfrm>
            <a:off x="566928" y="5753387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ctr"/>
            <a:r>
              <a:rPr sz="1100" b="0" i="1">
                <a:solidFill>
                  <a:srgbClr val="595959"/>
                </a:solidFill>
              </a:rPr>
              <a:t>Left: original Fig. 8 of the paper. Right: our simulated crease, same axes. Separate panels, not overlaid.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"/>
          <p:cNvSpPr txBox="1"/>
          <p:nvPr>
            <p:ph type="title"/>
          </p:nvPr>
        </p:nvSpPr>
        <p:spPr>
          <a:xfrm>
            <a:off x="841248" y="256032"/>
            <a:ext cx="10515600" cy="7863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Release: paper Fig. 10 vs ours</a:t>
            </a:r>
            <a:endParaRPr/>
          </a:p>
        </p:txBody>
      </p:sp>
      <p:sp>
        <p:nvSpPr>
          <p:cNvPr id="345" name="Google Shape;345;p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p6"/>
          <p:cNvSpPr txBox="1"/>
          <p:nvPr>
            <p:ph idx="1" type="body"/>
          </p:nvPr>
        </p:nvSpPr>
        <p:spPr>
          <a:xfrm>
            <a:off x="841248" y="157276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endParaRPr/>
          </a:p>
        </p:txBody>
      </p:sp>
      <p:sp>
        <p:nvSpPr>
          <p:cNvPr id="347" name="TextBox 346"/>
          <p:cNvSpPr txBox="1"/>
          <p:nvPr/>
        </p:nvSpPr>
        <p:spPr>
          <a:xfrm>
            <a:off x="841248" y="1060704"/>
            <a:ext cx="10515600" cy="804672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</a:rPr>
              <a:t>Paper settles at 42.7° after 0.42 s; ours settles at 45.3°</a:t>
            </a:r>
          </a:p>
        </p:txBody>
      </p:sp>
      <p:pic>
        <p:nvPicPr>
          <p:cNvPr id="348" name="Picture 347" descr="cmp_fig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11" y="1920240"/>
            <a:ext cx="7351873" cy="3986783"/>
          </a:xfrm>
          <a:prstGeom prst="rect">
            <a:avLst/>
          </a:prstGeom>
        </p:spPr>
      </p:pic>
      <p:sp>
        <p:nvSpPr>
          <p:cNvPr id="349" name="TextBox 348"/>
          <p:cNvSpPr txBox="1"/>
          <p:nvPr/>
        </p:nvSpPr>
        <p:spPr>
          <a:xfrm>
            <a:off x="566928" y="5961887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ctr"/>
            <a:r>
              <a:rPr sz="1100" b="0" i="1">
                <a:solidFill>
                  <a:srgbClr val="595959"/>
                </a:solidFill>
              </a:rPr>
              <a:t>Top: original Fig. 10 (CCD photos of the crease). Bottom: frames of our crease_fold90.mp4 at the matching stages.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Quantitative comparison with the paper</a:t>
            </a:r>
            <a:endParaRPr/>
          </a:p>
        </p:txBody>
      </p:sp>
      <p:sp>
        <p:nvSpPr>
          <p:cNvPr id="345" name="Google Shape;345;p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p6"/>
          <p:cNvSpPr txBox="1"/>
          <p:nvPr>
            <p:ph idx="1" type="body"/>
          </p:nvPr>
        </p:nvSpPr>
        <p:spPr>
          <a:xfrm>
            <a:off x="841248" y="1572768"/>
            <a:ext cx="10515600" cy="46451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endParaRPr/>
          </a:p>
        </p:txBody>
      </p:sp>
      <p:graphicFrame>
        <p:nvGraphicFramePr>
          <p:cNvPr id="347" name="Table 346"/>
          <p:cNvGraphicFramePr>
            <a:graphicFrameLocks noGrp="1"/>
          </p:cNvGraphicFramePr>
          <p:nvPr/>
        </p:nvGraphicFramePr>
        <p:xfrm>
          <a:off x="841248" y="1572768"/>
          <a:ext cx="10515600" cy="2944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6804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Quantity</a:t>
                      </a:r>
                    </a:p>
                  </a:txBody>
                  <a:tcPr anchor="ctr" marL="73152" marR="73152">
                    <a:solidFill>
                      <a:srgbClr val="3E4A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Paper (Nagasawa 2019)</a:t>
                      </a:r>
                    </a:p>
                  </a:txBody>
                  <a:tcPr anchor="ctr" marL="73152" marR="73152">
                    <a:solidFill>
                      <a:srgbClr val="3E4A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Ours (sim)</a:t>
                      </a:r>
                    </a:p>
                  </a:txBody>
                  <a:tcPr anchor="ctr" marL="73152" marR="73152">
                    <a:solidFill>
                      <a:srgbClr val="3E4A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Match</a:t>
                      </a:r>
                    </a:p>
                  </a:txBody>
                  <a:tcPr anchor="ctr" marL="73152" marR="73152">
                    <a:solidFill>
                      <a:srgbClr val="3E4A5B"/>
                    </a:solidFill>
                  </a:tcPr>
                </a:tc>
              </a:tr>
              <a:tr h="368046">
                <a:tc>
                  <a:txBody>
                    <a:bodyPr/>
                    <a:lstStyle/>
                    <a:p>
                      <a:pPr algn="l"/>
                      <a:r>
                        <a:rPr sz="1250" b="1"/>
                        <a:t>Moment at 90° (M90)</a:t>
                      </a:r>
                    </a:p>
                  </a:txBody>
                  <a:tcPr anchor="ctr" marL="73152" marR="73152">
                    <a:solidFill>
                      <a:srgbClr val="E8F2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/>
                        <a:t>0.215 N·m/m</a:t>
                      </a:r>
                    </a:p>
                  </a:txBody>
                  <a:tcPr anchor="ctr" marL="73152" marR="73152">
                    <a:solidFill>
                      <a:srgbClr val="E8F2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/>
                        <a:t>0.219 N·m/m</a:t>
                      </a:r>
                    </a:p>
                  </a:txBody>
                  <a:tcPr anchor="ctr" marL="73152" marR="73152">
                    <a:solidFill>
                      <a:srgbClr val="E8F2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/>
                        <a:t>✓ (+2%)</a:t>
                      </a:r>
                    </a:p>
                  </a:txBody>
                  <a:tcPr anchor="ctr" marL="73152" marR="73152">
                    <a:solidFill>
                      <a:srgbClr val="E8F2E1"/>
                    </a:solidFill>
                  </a:tcPr>
                </a:tc>
              </a:tr>
              <a:tr h="368046">
                <a:tc>
                  <a:txBody>
                    <a:bodyPr/>
                    <a:lstStyle/>
                    <a:p>
                      <a:pPr algn="l"/>
                      <a:r>
                        <a:rPr sz="1250" b="0"/>
                        <a:t>Moment reaches 0 on unloading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/>
                        <a:t>≈ 46° (Fig. 10c)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/>
                        <a:t>48.1°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/>
                        <a:t>✓</a:t>
                      </a:r>
                    </a:p>
                  </a:txBody>
                  <a:tcPr anchor="ctr" marL="73152" marR="73152">
                    <a:noFill/>
                  </a:tcPr>
                </a:tc>
              </a:tr>
              <a:tr h="368046">
                <a:tc>
                  <a:txBody>
                    <a:bodyPr/>
                    <a:lstStyle/>
                    <a:p>
                      <a:pPr algn="l"/>
                      <a:r>
                        <a:rPr sz="1250" b="0"/>
                        <a:t>Rest angle after release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/>
                        <a:t>42.7° (0.42 s)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/>
                        <a:t>45.3°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/>
                        <a:t>✓ (±3°)</a:t>
                      </a:r>
                    </a:p>
                  </a:txBody>
                  <a:tcPr anchor="ctr" marL="73152" marR="73152">
                    <a:noFill/>
                  </a:tcPr>
                </a:tc>
              </a:tr>
              <a:tr h="368046">
                <a:tc>
                  <a:txBody>
                    <a:bodyPr/>
                    <a:lstStyle/>
                    <a:p>
                      <a:pPr algn="l"/>
                      <a:r>
                        <a:rPr sz="1250" b="0"/>
                        <a:t>Peak moment Mp1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/>
                        <a:t>0.244 (Eq. 5), ≈ 0.27 (Fig. 8)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/>
                        <a:t>0.274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/>
                        <a:t>✓ magnitude</a:t>
                      </a:r>
                    </a:p>
                  </a:txBody>
                  <a:tcPr anchor="ctr" marL="73152" marR="73152">
                    <a:noFill/>
                  </a:tcPr>
                </a:tc>
              </a:tr>
              <a:tr h="368046">
                <a:tc>
                  <a:txBody>
                    <a:bodyPr/>
                    <a:lstStyle/>
                    <a:p>
                      <a:pPr algn="l"/>
                      <a:r>
                        <a:rPr sz="1250" b="0"/>
                        <a:t>Angle of the peak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/>
                        <a:t>≈ 25°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/>
                        <a:t>47°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/>
                        <a:t>✗ single stiffness</a:t>
                      </a:r>
                    </a:p>
                  </a:txBody>
                  <a:tcPr anchor="ctr" marL="73152" marR="73152">
                    <a:noFill/>
                  </a:tcPr>
                </a:tc>
              </a:tr>
              <a:tr h="368046">
                <a:tc>
                  <a:txBody>
                    <a:bodyPr/>
                    <a:lstStyle/>
                    <a:p>
                      <a:pPr algn="l"/>
                      <a:r>
                        <a:rPr sz="1250" b="0"/>
                        <a:t>Refold softening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/>
                        <a:t>yes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/>
                        <a:t>yield 0.25 → 0.219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/>
                        <a:t>✓ qualitative</a:t>
                      </a:r>
                    </a:p>
                  </a:txBody>
                  <a:tcPr anchor="ctr" marL="73152" marR="73152">
                    <a:noFill/>
                  </a:tcPr>
                </a:tc>
              </a:tr>
              <a:tr h="368046">
                <a:tc>
                  <a:txBody>
                    <a:bodyPr/>
                    <a:lstStyle/>
                    <a:p>
                      <a:pPr algn="l"/>
                      <a:r>
                        <a:rPr sz="1250" b="0"/>
                        <a:t>Relaxation / log-time creep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/>
                        <a:t>yes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/>
                        <a:t>not modelled</a:t>
                      </a:r>
                    </a:p>
                  </a:txBody>
                  <a:tcPr anchor="ctr" marL="73152" marR="73152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/>
                        <a:t>✗</a:t>
                      </a:r>
                    </a:p>
                  </a:txBody>
                  <a:tcPr anchor="ctr" marL="73152" marR="73152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"/>
          <p:cNvSpPr txBox="1"/>
          <p:nvPr>
            <p:ph type="title"/>
          </p:nvPr>
        </p:nvSpPr>
        <p:spPr>
          <a:xfrm>
            <a:off x="841248" y="256032"/>
            <a:ext cx="10515600" cy="7863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Folds down the outside of the wall (~261°)</a:t>
            </a:r>
            <a:endParaRPr/>
          </a:p>
        </p:txBody>
      </p:sp>
      <p:sp>
        <p:nvSpPr>
          <p:cNvPr id="345" name="Google Shape;345;p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p6"/>
          <p:cNvSpPr txBox="1"/>
          <p:nvPr>
            <p:ph idx="1" type="body"/>
          </p:nvPr>
        </p:nvSpPr>
        <p:spPr>
          <a:xfrm>
            <a:off x="841248" y="1627632"/>
            <a:ext cx="5257800" cy="4590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Before: stuck at ~100°</a:t>
            </a:r>
            <a:endParaRPr/>
          </a:p>
          <a:p>
            <a:pPr indent="-28575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Now: flap meets the wall at 260.8°</a:t>
            </a:r>
            <a:endParaRPr/>
          </a:p>
          <a:p>
            <a:pPr indent="-28575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Hinge at the wall's inner edge: ~9° short of 270°</a:t>
            </a:r>
            <a:endParaRPr/>
          </a:p>
          <a:p>
            <a:pPr indent="-28575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Released: rests at 240°</a:t>
            </a:r>
            <a:endParaRPr/>
          </a:p>
          <a:p>
            <a:pPr indent="-28575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Spring-back only 30°: weight opposes it</a:t>
            </a:r>
            <a:endParaRPr/>
          </a:p>
        </p:txBody>
      </p:sp>
      <p:sp>
        <p:nvSpPr>
          <p:cNvPr id="347" name="TextBox 346"/>
          <p:cNvSpPr txBox="1"/>
          <p:nvPr/>
        </p:nvSpPr>
        <p:spPr>
          <a:xfrm>
            <a:off x="868680" y="1060704"/>
            <a:ext cx="10515600" cy="40233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l"/>
            <a:r>
              <a:rPr sz="1800" b="0" i="0">
                <a:solidFill>
                  <a:srgbClr val="C00000"/>
                </a:solidFill>
              </a:rPr>
              <a:t>Past 90° the weight helps; released at 261° it rests at 240°</a:t>
            </a:r>
          </a:p>
        </p:txBody>
      </p:sp>
      <p:pic>
        <p:nvPicPr>
          <p:cNvPr id="348" name="crease_fold270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373368" y="2288571"/>
            <a:ext cx="5257800" cy="2957512"/>
          </a:xfrm>
          <a:prstGeom prst="rect">
            <a:avLst/>
          </a:prstGeom>
        </p:spPr>
      </p:pic>
      <p:sp>
        <p:nvSpPr>
          <p:cNvPr id="349" name="Rounded Rectangle 348"/>
          <p:cNvSpPr/>
          <p:nvPr/>
        </p:nvSpPr>
        <p:spPr>
          <a:xfrm>
            <a:off x="6464807" y="4880324"/>
            <a:ext cx="932688" cy="2743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wrap="none" lIns="54864" rIns="54864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▶ 0:08</a:t>
            </a:r>
          </a:p>
        </p:txBody>
      </p:sp>
      <p:sp>
        <p:nvSpPr>
          <p:cNvPr id="350" name="TextBox 349"/>
          <p:cNvSpPr txBox="1"/>
          <p:nvPr/>
        </p:nvSpPr>
        <p:spPr>
          <a:xfrm>
            <a:off x="6373368" y="5300948"/>
            <a:ext cx="5257800" cy="31089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ctr"/>
            <a:r>
              <a:rPr sz="1100" b="0" i="1">
                <a:solidFill>
                  <a:srgbClr val="595959"/>
                </a:solidFill>
              </a:rPr>
              <a:t>Fixture folds fyp to 270°; the flap stops against the wall, then is released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 repeatCount="indefinite">
                  <p:stCondLst>
                    <p:cond delay="0"/>
                  </p:stCondLst>
                </p:cTn>
                <p:tgtEl>
                  <p:spTgt spid="348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"/>
          <p:cNvSpPr txBox="1"/>
          <p:nvPr>
            <p:ph type="title"/>
          </p:nvPr>
        </p:nvSpPr>
        <p:spPr>
          <a:xfrm>
            <a:off x="841248" y="256032"/>
            <a:ext cx="10515600" cy="7863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Arm pull: 0.29 N opens 10° (was 1.53 N)</a:t>
            </a:r>
            <a:endParaRPr/>
          </a:p>
        </p:txBody>
      </p:sp>
      <p:sp>
        <p:nvSpPr>
          <p:cNvPr id="345" name="Google Shape;345;p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p6"/>
          <p:cNvSpPr txBox="1"/>
          <p:nvPr>
            <p:ph idx="1" type="body"/>
          </p:nvPr>
        </p:nvSpPr>
        <p:spPr>
          <a:xfrm>
            <a:off x="841248" y="1627632"/>
            <a:ext cx="5257800" cy="4590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10°: 1.53 N → 0.29 N</a:t>
            </a:r>
            <a:endParaRPr/>
          </a:p>
          <a:p>
            <a:pPr indent="-28575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60°: not reached → 1.43 N</a:t>
            </a:r>
            <a:endParaRPr/>
          </a:p>
          <a:p>
            <a:pPr indent="-28575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Released: springs shut → stays at 30.6°</a:t>
            </a:r>
            <a:endParaRPr/>
          </a:p>
          <a:p>
            <a:pPr indent="-285750" lvl="0" marL="4000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Vertical pull loses leverage near 90°</a:t>
            </a:r>
            <a:endParaRPr/>
          </a:p>
        </p:txBody>
      </p:sp>
      <p:sp>
        <p:nvSpPr>
          <p:cNvPr id="347" name="TextBox 346"/>
          <p:cNvSpPr txBox="1"/>
          <p:nvPr/>
        </p:nvSpPr>
        <p:spPr>
          <a:xfrm>
            <a:off x="868680" y="1060704"/>
            <a:ext cx="10515600" cy="40233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l"/>
            <a:r>
              <a:rPr sz="1800" b="0" i="0">
                <a:solidFill>
                  <a:srgbClr val="C00000"/>
                </a:solidFill>
              </a:rPr>
              <a:t>Upward pull at the flap edge, ramped to 3 N in 4 s, then released</a:t>
            </a:r>
          </a:p>
        </p:txBody>
      </p:sp>
      <p:pic>
        <p:nvPicPr>
          <p:cNvPr id="348" name="pull_fyp_crease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373368" y="2288571"/>
            <a:ext cx="5257800" cy="2957512"/>
          </a:xfrm>
          <a:prstGeom prst="rect">
            <a:avLst/>
          </a:prstGeom>
        </p:spPr>
      </p:pic>
      <p:sp>
        <p:nvSpPr>
          <p:cNvPr id="349" name="Rounded Rectangle 348"/>
          <p:cNvSpPr/>
          <p:nvPr/>
        </p:nvSpPr>
        <p:spPr>
          <a:xfrm>
            <a:off x="6464807" y="4880324"/>
            <a:ext cx="932688" cy="2743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wrap="none" lIns="54864" rIns="54864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▶ 0:07</a:t>
            </a:r>
          </a:p>
        </p:txBody>
      </p:sp>
      <p:sp>
        <p:nvSpPr>
          <p:cNvPr id="350" name="TextBox 349"/>
          <p:cNvSpPr txBox="1"/>
          <p:nvPr/>
        </p:nvSpPr>
        <p:spPr>
          <a:xfrm>
            <a:off x="6373368" y="5300948"/>
            <a:ext cx="5257800" cy="31089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ctr"/>
            <a:r>
              <a:rPr sz="1100" b="0" i="1">
                <a:solidFill>
                  <a:srgbClr val="595959"/>
                </a:solidFill>
              </a:rPr>
              <a:t>verify_phys_scene.py --test P on the new scene; on-screen: pull force and flap angle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 repeatCount="indefinite">
                  <p:stCondLst>
                    <p:cond delay="0"/>
                  </p:stCondLst>
                </p:cTn>
                <p:tgtEl>
                  <p:spTgt spid="348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Softer creases are realistic — and have side effects</a:t>
            </a:r>
            <a:endParaRPr/>
          </a:p>
        </p:txBody>
      </p:sp>
      <p:sp>
        <p:nvSpPr>
          <p:cNvPr id="352" name="Google Shape;352;p7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3" name="Google Shape;353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Carry test: upper flaps pop ~15° open</a:t>
            </a:r>
            <a:endParaRPr/>
          </a:p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1.5 m/s shake: one flap flung to 73°</a:t>
            </a:r>
            <a:endParaRPr/>
          </a:p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Lower flaps open only after upper flaps pass 90°</a:t>
            </a:r>
            <a:endParaRPr/>
          </a:p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Corrugated crease uncalibrated (paperboard value)</a:t>
            </a:r>
            <a:endParaRPr/>
          </a:p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Shut lids needed: seal box or LID_MODE=latch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8"/>
          <p:cNvSpPr txBox="1"/>
          <p:nvPr>
            <p:ph type="title"/>
          </p:nvPr>
        </p:nvSpPr>
        <p:spPr>
          <a:xfrm>
            <a:off x="841248" y="256032"/>
            <a:ext cx="10515600" cy="7863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359" name="Google Shape;359;p8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360" name="Google Shape;360;p8"/>
          <p:cNvGraphicFramePr/>
          <p:nvPr/>
        </p:nvGraphicFramePr>
        <p:xfrm>
          <a:off x="1181682" y="214704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{6F5020E9-609E-4017-BB34-8560C302F62E}</a:tableStyleId>
              </a:tblPr>
              <a:tblGrid>
                <a:gridCol w="389950"/>
                <a:gridCol w="9438700"/>
              </a:tblGrid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Calibrate corrugated crease: force gauge at flap edge (start-fold force, rest angle after 90°)</a:t>
                      </a:r>
                      <a:endParaRPr/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/>
                        <a:t>2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Rebuild delivered scene_final_phys.usd on Isaac Sim 5.1 (6.0 build moves the mug)</a:t>
                      </a:r>
                      <a:endParaRPr/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Two-stiffness crease so yield starts near 20° like the paper</a:t>
                      </a:r>
                      <a:endParaRPr/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Time-dependent relaxation / log-time spring-back (optional)</a:t>
                      </a:r>
                      <a:endParaRPr/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>Decide lid policy for arm tasks: plastic vs sealed vs latch</a:t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/>
                        <a:t>6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b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b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61" name="Google Shape;361;p8"/>
          <p:cNvSpPr/>
          <p:nvPr/>
        </p:nvSpPr>
        <p:spPr>
          <a:xfrm>
            <a:off x="1181682" y="1857092"/>
            <a:ext cx="3127851" cy="287867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Todolist &amp; Suggestion from Prof.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TextBox 361"/>
          <p:cNvSpPr txBox="1"/>
          <p:nvPr/>
        </p:nvSpPr>
        <p:spPr>
          <a:xfrm>
            <a:off x="868680" y="1060704"/>
            <a:ext cx="10515600" cy="402336"/>
          </a:xfrm>
          <a:prstGeom prst="rect">
            <a:avLst/>
          </a:prstGeom>
          <a:noFill/>
        </p:spPr>
        <p:txBody>
          <a:bodyPr wrap="square" anchor="t" lIns="0" rIns="0" tIns="12700" bIns="12700">
            <a:spAutoFit/>
          </a:bodyPr>
          <a:lstStyle/>
          <a:p>
            <a:pPr algn="l"/>
            <a:r>
              <a:rPr sz="1800" b="0" i="0">
                <a:solidFill>
                  <a:srgbClr val="C00000"/>
                </a:solidFill>
              </a:rPr>
              <a:t>Crease matches the paper's plateau and spring-back; next: calibrate on real corrugated board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2024-07-03T12:38:17Z</dcterms:created>
  <dc:creator>Isadora Lo</dc:creator>
  <cp:contentStatus>acm-composed</cp:contentStatus>
</cp:coreProperties>
</file>